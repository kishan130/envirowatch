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58" r:id="rId7"/>
    <p:sldId id="261" r:id="rId8"/>
    <p:sldId id="268" r:id="rId9"/>
    <p:sldId id="265" r:id="rId10"/>
    <p:sldId id="267" r:id="rId11"/>
    <p:sldId id="291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88" r:id="rId21"/>
    <p:sldId id="289" r:id="rId22"/>
    <p:sldId id="287" r:id="rId23"/>
    <p:sldId id="281" r:id="rId24"/>
    <p:sldId id="282" r:id="rId25"/>
    <p:sldId id="283" r:id="rId26"/>
    <p:sldId id="284" r:id="rId27"/>
    <p:sldId id="285" r:id="rId28"/>
    <p:sldId id="286" r:id="rId29"/>
    <p:sldId id="278" r:id="rId30"/>
    <p:sldId id="279" r:id="rId31"/>
    <p:sldId id="262" r:id="rId32"/>
    <p:sldId id="260" r:id="rId33"/>
  </p:sldIdLst>
  <p:sldSz cx="12192000" cy="6858000"/>
  <p:notesSz cx="6858000" cy="9144000"/>
  <p:embeddedFontLst>
    <p:embeddedFont>
      <p:font typeface="Calibri" panose="020F0502020204030204"/>
      <p:regular r:id="rId37"/>
    </p:embeddedFont>
    <p:embeddedFont>
      <p:font typeface="Proxima Nova" panose="02000506030000020004"/>
      <p:regular r:id="rId38"/>
    </p:embeddedFont>
    <p:embeddedFont>
      <p:font typeface="Segoe UI" panose="020B0502040204020203"/>
      <p:regular r:id="rId39"/>
      <p:bold r:id="rId40"/>
      <p:italic r:id="rId41"/>
      <p:boldItalic r:id="rId42"/>
    </p:embeddedFont>
    <p:embeddedFont>
      <p:font typeface="Proxima Nova" panose="02000506030000020004" charset="0"/>
      <p:regular r:id="rId43"/>
    </p:embeddedFont>
    <p:embeddedFont>
      <p:font typeface="Consolas" panose="020B0609020204030204"/>
      <p:regular r:id="rId44"/>
      <p:bold r:id="rId45"/>
      <p:italic r:id="rId46"/>
      <p:boldItalic r:id="rId47"/>
    </p:embeddedFont>
    <p:embeddedFont>
      <p:font typeface="Consolas" panose="020B060902020403020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219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A2B9"/>
    <a:srgbClr val="DADADA"/>
    <a:srgbClr val="A424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5" y="58"/>
      </p:cViewPr>
      <p:guideLst>
        <p:guide orient="horz" pos="2219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font" Target="fonts/font15.fntdata"/><Relationship Id="rId50" Type="http://schemas.openxmlformats.org/officeDocument/2006/relationships/font" Target="fonts/font14.fntdata"/><Relationship Id="rId5" Type="http://schemas.openxmlformats.org/officeDocument/2006/relationships/slide" Target="slides/slide2.xml"/><Relationship Id="rId49" Type="http://schemas.openxmlformats.org/officeDocument/2006/relationships/font" Target="fonts/font13.fntdata"/><Relationship Id="rId48" Type="http://schemas.openxmlformats.org/officeDocument/2006/relationships/font" Target="fonts/font12.fntdata"/><Relationship Id="rId47" Type="http://schemas.openxmlformats.org/officeDocument/2006/relationships/font" Target="fonts/font11.fntdata"/><Relationship Id="rId46" Type="http://schemas.openxmlformats.org/officeDocument/2006/relationships/font" Target="fonts/font10.fntdata"/><Relationship Id="rId45" Type="http://schemas.openxmlformats.org/officeDocument/2006/relationships/font" Target="fonts/font9.fntdata"/><Relationship Id="rId44" Type="http://schemas.openxmlformats.org/officeDocument/2006/relationships/font" Target="fonts/font8.fntdata"/><Relationship Id="rId43" Type="http://schemas.openxmlformats.org/officeDocument/2006/relationships/font" Target="fonts/font7.fntdata"/><Relationship Id="rId42" Type="http://schemas.openxmlformats.org/officeDocument/2006/relationships/font" Target="fonts/font6.fntdata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7" Type="http://schemas.openxmlformats.org/officeDocument/2006/relationships/notesSlide" Target="../notesSlides/notesSlide14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52.xml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29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2.xml"/><Relationship Id="rId6" Type="http://schemas.openxmlformats.org/officeDocument/2006/relationships/hyperlink" Target="%20https://learn.microsoft.com/en-us/aspnet/core/mvc" TargetMode="External"/><Relationship Id="rId5" Type="http://schemas.openxmlformats.org/officeDocument/2006/relationships/hyperlink" Target="https://openweathermap.org/current" TargetMode="External"/><Relationship Id="rId4" Type="http://schemas.openxmlformats.org/officeDocument/2006/relationships/hyperlink" Target="https://openweathermap.org/api/air-pollution&#13;" TargetMode="External"/><Relationship Id="rId3" Type="http://schemas.openxmlformats.org/officeDocument/2006/relationships/hyperlink" Target="https://www.iqair.com/world-air-quality-report" TargetMode="External"/><Relationship Id="rId2" Type="http://schemas.openxmlformats.org/officeDocument/2006/relationships/hyperlink" Target="https://cpcb.nic.in" TargetMode="External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hyperlink" Target="https://www.w3.org/TR/appmanifest" TargetMode="External"/><Relationship Id="rId7" Type="http://schemas.openxmlformats.org/officeDocument/2006/relationships/hyperlink" Target="https://developers.google.com/identity/protocols/oauth2" TargetMode="External"/><Relationship Id="rId6" Type="http://schemas.openxmlformats.org/officeDocument/2006/relationships/hyperlink" Target="https://www.questpdf.com" TargetMode="External"/><Relationship Id="rId5" Type="http://schemas.openxmlformats.org/officeDocument/2006/relationships/hyperlink" Target="https://www.chartjs.org" TargetMode="External"/><Relationship Id="rId4" Type="http://schemas.openxmlformats.org/officeDocument/2006/relationships/hyperlink" Target="https://leafletjs.com" TargetMode="External"/><Relationship Id="rId3" Type="http://schemas.openxmlformats.org/officeDocument/2006/relationships/hyperlink" Target="https://learn.microsoft.com/en-us/aspnet/core/fundamentals/host/hosted-services" TargetMode="External"/><Relationship Id="rId2" Type="http://schemas.openxmlformats.org/officeDocument/2006/relationships/hyperlink" Target="https://learn.microsoft.com/en-us/ef/core" TargetMode="External"/><Relationship Id="rId10" Type="http://schemas.openxmlformats.org/officeDocument/2006/relationships/notesSlide" Target="../notesSlides/notesSlide28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/>
        </p:nvSpPr>
        <p:spPr>
          <a:xfrm>
            <a:off x="3103245" y="3855720"/>
            <a:ext cx="6678295" cy="63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Team Member 1: </a:t>
            </a:r>
            <a:r>
              <a:rPr lang="en-US" sz="18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Rajnishkumar Sinh (92410103096) (6EC5-B)</a:t>
            </a:r>
            <a:endParaRPr dirty="0">
              <a:solidFill>
                <a:srgbClr val="04A2B9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Team Member 2: </a:t>
            </a:r>
            <a:r>
              <a:rPr lang="en-US" sz="18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Kishan Vachhani (92410103097) (6EC5-B)</a:t>
            </a:r>
            <a:endParaRPr dirty="0">
              <a:solidFill>
                <a:srgbClr val="04A2B9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387350" y="2727325"/>
            <a:ext cx="11450955" cy="112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India District-Wise Weather &amp; Air-Quality Monitoring Dashboard (EnviroWatch)</a:t>
            </a:r>
            <a:endParaRPr dirty="0">
              <a:solidFill>
                <a:srgbClr val="04A2B9"/>
              </a:solidFill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 panose="02000506030000020004"/>
              <a:buNone/>
            </a:pPr>
            <a:r>
              <a:rPr lang="en-US" sz="2200" b="0" i="0" u="none" strike="noStrike" cap="none" dirty="0">
                <a:solidFill>
                  <a:schemeClr val="tx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Team ID: </a:t>
            </a:r>
            <a:r>
              <a:rPr lang="en-US" sz="22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T_024</a:t>
            </a:r>
            <a:endParaRPr lang="en-US" sz="2200" b="0" i="0" u="none" strike="noStrike" cap="none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5459831" y="4489367"/>
            <a:ext cx="127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tx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Guided By</a:t>
            </a:r>
            <a:endParaRPr lang="en-US" sz="1800" b="0" i="0" u="none" strike="noStrike" cap="none">
              <a:solidFill>
                <a:schemeClr val="tx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3193926" y="4888447"/>
            <a:ext cx="5742683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Internal Guide</a:t>
            </a:r>
            <a:endParaRPr lang="en-US" sz="1800" b="0" i="0" u="none" strike="noStrike" cap="none" dirty="0">
              <a:solidFill>
                <a:schemeClr val="dk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Prof. Viraj Daxini</a:t>
            </a:r>
            <a:endParaRPr lang="en-US" sz="1800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3193926" y="5441197"/>
            <a:ext cx="302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"/>
          <p:cNvSpPr txBox="1"/>
          <p:nvPr/>
        </p:nvSpPr>
        <p:spPr>
          <a:xfrm>
            <a:off x="2550795" y="1056005"/>
            <a:ext cx="709549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 panose="02000506030000020004"/>
              <a:buNone/>
            </a:pPr>
            <a:r>
              <a:rPr lang="en-US" sz="3200" b="1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</a:t>
            </a:r>
            <a:r>
              <a:rPr lang="en-IN" altLang="en-US" sz="3200" b="1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ini</a:t>
            </a:r>
            <a:r>
              <a:rPr lang="en-US" sz="3200" b="1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Project (01CE</a:t>
            </a:r>
            <a:r>
              <a:rPr lang="en-US" sz="320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0</a:t>
            </a:r>
            <a:r>
              <a:rPr lang="en-IN" altLang="en-US" sz="320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609</a:t>
            </a:r>
            <a:r>
              <a:rPr lang="en-US" sz="3200" b="1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)</a:t>
            </a:r>
            <a:endParaRPr lang="en-US" sz="3200" b="1" i="0" u="none" strike="noStrike" cap="none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 panose="02000506030000020004"/>
              <a:buNone/>
            </a:pPr>
            <a:r>
              <a:rPr lang="en-IN" altLang="en-US" sz="3200" b="1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Semester 6</a:t>
            </a:r>
            <a:endParaRPr sz="3200" b="1" dirty="0"/>
          </a:p>
          <a:p>
            <a:pPr marL="12700" marR="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 panose="02000506030000020004"/>
              <a:buNone/>
            </a:pPr>
            <a:r>
              <a:rPr lang="en-US" sz="22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Review 1 </a:t>
            </a:r>
            <a:br>
              <a:rPr lang="en-US" sz="22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</a:br>
            <a:r>
              <a:rPr lang="en-US" sz="22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07/03/2026</a:t>
            </a:r>
            <a:br>
              <a:rPr lang="en-US" sz="22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</a:br>
            <a:endParaRPr lang="en-US" sz="2200" b="0" i="0" u="none" strike="noStrike" cap="none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916636" y="5643518"/>
            <a:ext cx="8297381" cy="93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Department of Computer Engineering,</a:t>
            </a:r>
            <a:br>
              <a:rPr lang="en-US" sz="24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</a:br>
            <a:r>
              <a:rPr lang="en-US" sz="24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Faculty of Engineering &amp; Technology</a:t>
            </a:r>
            <a:r>
              <a:rPr lang="en-US" sz="36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endParaRPr sz="3600" b="0" i="0" u="none" strike="noStrike" cap="none" dirty="0">
              <a:solidFill>
                <a:schemeClr val="dk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822"/>
            <a:ext cx="2320909" cy="3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Abstract</a:t>
            </a:r>
            <a:endParaRPr sz="2400" b="1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4035" y="1618615"/>
            <a:ext cx="10826750" cy="2823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94A3B8"/>
                </a:solidFill>
                <a:latin typeface="Segoe UI" panose="020B0502040204020203"/>
              </a:defRPr>
            </a:pPr>
            <a:r>
              <a:rPr lang="en-US" altLang="en-US" sz="22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Build a dashboard using C# .NET, MS SQL, JavaScript/jQuery and charting libraries. Pull current weather from OpenWeatherMap (free tier) and AQI from IQAir / AirVisual or OpenWeather’s AQI endpoint (free for development within limits). Store periodic snapshots in MS SQL for 7/30-day trend charts, allow users to subscribe (via social login) to district alerts, and export reports. This helps communities track pollution trends and prepare alerts.</a:t>
            </a:r>
            <a:endParaRPr lang="en-US" altLang="en-US" sz="22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2320909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Outline</a:t>
            </a: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646113" y="966117"/>
            <a:ext cx="8591100" cy="5782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Introduction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Problem Statement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Objective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Literature review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Existing System &amp; Limitations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Tools &amp; Technologies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Project Structure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Features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How Project works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Database Design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Challenges Faced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Future Scope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Conclusion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Reference</a:t>
            </a:r>
            <a:endParaRPr lang="en-US" altLang="en-US" sz="2400" dirty="0">
              <a:solidFill>
                <a:schemeClr val="tx1"/>
              </a:solidFill>
              <a:latin typeface="Proxima Nova" panose="02000506030000020004"/>
              <a:sym typeface="Proxima Nova" panose="020005060300000200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822"/>
            <a:ext cx="2320909" cy="3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Introduction	</a:t>
            </a: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430" y="1124585"/>
            <a:ext cx="6895465" cy="5120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spcAft>
                <a:spcPts val="1200"/>
              </a:spcAft>
              <a:defRPr sz="150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▸  Air pollution is one of India's most pressing environmental crises — over 1.67 million deaths per year (Lancet, 2019)</a:t>
            </a:r>
            <a:endParaRPr sz="18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 algn="just">
              <a:spcAft>
                <a:spcPts val="1200"/>
              </a:spcAft>
              <a:defRPr sz="150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▸  India has 21 of the world's 30 most polluted cities (</a:t>
            </a:r>
            <a:r>
              <a:rPr sz="1800"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IQAir</a:t>
            </a:r>
            <a:r>
              <a:rPr sz="18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 2023 World Air Quality Report)</a:t>
            </a:r>
            <a:endParaRPr sz="18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 algn="just">
              <a:spcAft>
                <a:spcPts val="1200"/>
              </a:spcAft>
              <a:defRPr sz="150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▸  Most citizens lack access to real-time, localized air quality data for their district</a:t>
            </a:r>
            <a:endParaRPr sz="18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 algn="just">
              <a:spcAft>
                <a:spcPts val="1200"/>
              </a:spcAft>
              <a:defRPr sz="150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▸  Existing solutions focus on metro cities — rural and semi-urban areas remain uncovered</a:t>
            </a:r>
            <a:endParaRPr sz="18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 algn="just">
              <a:spcAft>
                <a:spcPts val="1200"/>
              </a:spcAft>
              <a:defRPr sz="150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▸  </a:t>
            </a:r>
            <a:r>
              <a:rPr sz="1800"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EnviroWatch</a:t>
            </a:r>
            <a:r>
              <a:rPr sz="18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 bridges this gap by providing a comprehensive monitoring dashboard covering all 780+ Indian districts</a:t>
            </a:r>
            <a:endParaRPr sz="18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 algn="just">
              <a:spcAft>
                <a:spcPts val="1200"/>
              </a:spcAft>
              <a:defRPr sz="150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▸  The platform combines weather + AQI data with health recommendations, empowering communities to make informed decisions</a:t>
            </a:r>
            <a:endParaRPr sz="18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646670" y="1389380"/>
            <a:ext cx="3805555" cy="4543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035" y="309880"/>
            <a:ext cx="3331210" cy="3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Problem Statement	</a:t>
            </a: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5321" y="1463041"/>
            <a:ext cx="530352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9641" y="1645921"/>
            <a:ext cx="4754880" cy="4572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1">
                <a:solidFill>
                  <a:srgbClr val="EF4444"/>
                </a:solidFill>
                <a:latin typeface="Segoe UI" panose="020B0502040204020203"/>
              </a:defRPr>
            </a:pPr>
            <a:r>
              <a:t>📊  Data Fragmentation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1" y="2148841"/>
            <a:ext cx="4754880" cy="6915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3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 dirty="0">
                <a:solidFill>
                  <a:schemeClr val="tx1"/>
                </a:solidFill>
              </a:rPr>
              <a:t>Weather and AQI data exist on separate platforms — </a:t>
            </a:r>
            <a:r>
              <a:rPr b="1" dirty="0" err="1">
                <a:solidFill>
                  <a:schemeClr val="tx1"/>
                </a:solidFill>
              </a:rPr>
              <a:t>OpenWeatherMap</a:t>
            </a:r>
            <a:r>
              <a:rPr b="1" dirty="0">
                <a:solidFill>
                  <a:schemeClr val="tx1"/>
                </a:solidFill>
              </a:rPr>
              <a:t>, CPCB, SAFAR — making correlating environmental data difficult for ordinary citizens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33160" y="1463041"/>
            <a:ext cx="530352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480" y="1645921"/>
            <a:ext cx="4754880" cy="3683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1">
                <a:solidFill>
                  <a:srgbClr val="EF4444"/>
                </a:solidFill>
                <a:latin typeface="Segoe UI" panose="020B0502040204020203"/>
              </a:defRPr>
            </a:pPr>
            <a:r>
              <a:t>🏘</a:t>
            </a:r>
            <a:r>
              <a:rPr lang="en-US"/>
              <a:t>   </a:t>
            </a:r>
            <a:r>
              <a:t>Limited District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480" y="2148841"/>
            <a:ext cx="4754880" cy="6915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3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chemeClr val="tx1"/>
                </a:solidFill>
              </a:rPr>
              <a:t>Existing AQI dashboards (like AQICN, IQAir) provide data for major metros only; 95% of Indian districts lack accessible real-time AQI monitoring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5321" y="3566160"/>
            <a:ext cx="530352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641" y="3749040"/>
            <a:ext cx="4754880" cy="4572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1">
                <a:solidFill>
                  <a:srgbClr val="EF4444"/>
                </a:solidFill>
                <a:latin typeface="Segoe UI" panose="020B0502040204020203"/>
              </a:defRPr>
            </a:pPr>
            <a:r>
              <a:t>📉  No Historical Trend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1" y="4251960"/>
            <a:ext cx="4754880" cy="6915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3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chemeClr val="tx1"/>
                </a:solidFill>
              </a:rPr>
              <a:t>Citizens cannot easily track pollution patterns over 7/30-day windows to identify seasonal spikes or long-term deterioration in their area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33160" y="3566160"/>
            <a:ext cx="530352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480" y="3749040"/>
            <a:ext cx="4754880" cy="3683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1">
                <a:solidFill>
                  <a:srgbClr val="EF4444"/>
                </a:solidFill>
                <a:latin typeface="Segoe UI" panose="020B0502040204020203"/>
              </a:defRPr>
            </a:pPr>
            <a:r>
              <a:t>⚠</a:t>
            </a:r>
            <a:r>
              <a:rPr lang="en-US"/>
              <a:t> </a:t>
            </a:r>
            <a:r>
              <a:t>No Proactive Alert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480" y="4251960"/>
            <a:ext cx="4754880" cy="49149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3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chemeClr val="tx1"/>
                </a:solidFill>
              </a:rPr>
              <a:t>No free, open platform allows users to set personalized AQI threshold alerts for their specific district</a:t>
            </a:r>
            <a:endParaRPr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Objectives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44" name="Text Box 43"/>
          <p:cNvSpPr txBox="1"/>
          <p:nvPr/>
        </p:nvSpPr>
        <p:spPr>
          <a:xfrm>
            <a:off x="657860" y="1474470"/>
            <a:ext cx="1066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5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b="1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01</a:t>
            </a:r>
            <a:r>
              <a:rPr sz="18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   Build a real-time AQI &amp; Weather monitoring dashboard for 780+ Indian districts</a:t>
            </a:r>
            <a:endParaRPr lang="en-US" sz="18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</p:txBody>
      </p:sp>
      <p:sp>
        <p:nvSpPr>
          <p:cNvPr id="49" name="TextBox 5"/>
          <p:cNvSpPr txBox="1"/>
          <p:nvPr/>
        </p:nvSpPr>
        <p:spPr>
          <a:xfrm>
            <a:off x="640233" y="1901952"/>
            <a:ext cx="10515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b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02</a:t>
            </a:r>
            <a:r>
              <a:rPr sz="180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   Integrate OpenWeatherMap APIs (Weather + Air Pollution) for live and historical data</a:t>
            </a:r>
            <a:endParaRPr sz="180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</p:txBody>
      </p:sp>
      <p:sp>
        <p:nvSpPr>
          <p:cNvPr id="51" name="TextBox 7"/>
          <p:cNvSpPr txBox="1"/>
          <p:nvPr/>
        </p:nvSpPr>
        <p:spPr>
          <a:xfrm>
            <a:off x="640233" y="2432304"/>
            <a:ext cx="10515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b="1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03   </a:t>
            </a:r>
            <a:r>
              <a:rPr sz="18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Calculate Indian NAQI (National Air Quality Index) using CPCB breakpoint standards</a:t>
            </a:r>
            <a:endParaRPr lang="en-IN" sz="18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</p:txBody>
      </p:sp>
      <p:sp>
        <p:nvSpPr>
          <p:cNvPr id="53" name="TextBox 9"/>
          <p:cNvSpPr txBox="1"/>
          <p:nvPr/>
        </p:nvSpPr>
        <p:spPr>
          <a:xfrm>
            <a:off x="640233" y="2962656"/>
            <a:ext cx="10515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b="1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04   </a:t>
            </a:r>
            <a:r>
              <a:rPr sz="18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Store periodic data snapshots in MS SQL Server for 7/30-day trend analysis</a:t>
            </a:r>
            <a:endParaRPr sz="18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</p:txBody>
      </p:sp>
      <p:sp>
        <p:nvSpPr>
          <p:cNvPr id="55" name="TextBox 11"/>
          <p:cNvSpPr txBox="1"/>
          <p:nvPr/>
        </p:nvSpPr>
        <p:spPr>
          <a:xfrm>
            <a:off x="640233" y="3493008"/>
            <a:ext cx="10515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b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05   </a:t>
            </a:r>
            <a:r>
              <a:rPr sz="180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Provide health recommendations based on combined AQI + Weather conditions</a:t>
            </a:r>
            <a:endParaRPr sz="180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</p:txBody>
      </p:sp>
      <p:sp>
        <p:nvSpPr>
          <p:cNvPr id="57" name="TextBox 13"/>
          <p:cNvSpPr txBox="1"/>
          <p:nvPr/>
        </p:nvSpPr>
        <p:spPr>
          <a:xfrm>
            <a:off x="640233" y="4023360"/>
            <a:ext cx="10515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b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06   </a:t>
            </a:r>
            <a:r>
              <a:rPr sz="180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Enable district-level alert subscriptions with configurable AQI thresholds</a:t>
            </a:r>
            <a:endParaRPr sz="180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</p:txBody>
      </p:sp>
      <p:sp>
        <p:nvSpPr>
          <p:cNvPr id="59" name="TextBox 15"/>
          <p:cNvSpPr txBox="1"/>
          <p:nvPr/>
        </p:nvSpPr>
        <p:spPr>
          <a:xfrm>
            <a:off x="640233" y="4553711"/>
            <a:ext cx="10515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b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07   </a:t>
            </a:r>
            <a:r>
              <a:rPr sz="180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Support report export in PDF and CSV formats for offline analysis</a:t>
            </a:r>
            <a:endParaRPr sz="180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</p:txBody>
      </p:sp>
      <p:sp>
        <p:nvSpPr>
          <p:cNvPr id="61" name="TextBox 17"/>
          <p:cNvSpPr txBox="1"/>
          <p:nvPr/>
        </p:nvSpPr>
        <p:spPr>
          <a:xfrm>
            <a:off x="640233" y="5084063"/>
            <a:ext cx="10515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800" b="1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08   </a:t>
            </a:r>
            <a:r>
              <a:rPr sz="18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</a:rPr>
              <a:t>Visualize data through interactive maps (Leaflet.js) and multi-chart analytics (Chart.js)</a:t>
            </a:r>
            <a:endParaRPr sz="18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Literature Review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4" name="Rounded Rectangle 3"/>
          <p:cNvSpPr/>
          <p:nvPr>
            <p:custDataLst>
              <p:tags r:id="rId2"/>
            </p:custDataLst>
          </p:nvPr>
        </p:nvSpPr>
        <p:spPr>
          <a:xfrm>
            <a:off x="645796" y="1955165"/>
            <a:ext cx="5303520" cy="13716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920116" y="2092325"/>
            <a:ext cx="4754880" cy="3219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1">
                <a:solidFill>
                  <a:srgbClr val="FBBF24"/>
                </a:solidFill>
                <a:latin typeface="Segoe UI" panose="020B0502040204020203"/>
              </a:defRPr>
            </a:pPr>
            <a:r>
              <a:rPr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CPCB NAQI Standards</a:t>
            </a:r>
            <a:r>
              <a:rPr lang="en-US">
                <a:solidFill>
                  <a:schemeClr val="accent4">
                    <a:lumMod val="75000"/>
                  </a:schemeClr>
                </a:solidFill>
              </a:rPr>
              <a:t> </a:t>
            </a: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920116" y="2458085"/>
            <a:ext cx="4754880" cy="6451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chemeClr val="tx1"/>
                </a:solidFill>
              </a:rPr>
              <a:t>India's Central Pollution Control Board defines AQI breakpoint tables for PM2.5, PM10, O3, NO2, SO2, CO — adopted in EnviroWatch for accurate Indian AQI calculation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>
            <p:custDataLst>
              <p:tags r:id="rId5"/>
            </p:custDataLst>
          </p:nvPr>
        </p:nvSpPr>
        <p:spPr>
          <a:xfrm>
            <a:off x="6223635" y="1955165"/>
            <a:ext cx="5303520" cy="13716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6497955" y="2092325"/>
            <a:ext cx="4754880" cy="3219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1">
                <a:solidFill>
                  <a:srgbClr val="FBBF24"/>
                </a:solidFill>
                <a:latin typeface="Segoe UI" panose="020B0502040204020203"/>
              </a:defRPr>
            </a:pPr>
            <a:r>
              <a:rPr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AQICN.org / IQAir</a:t>
            </a:r>
            <a:endParaRPr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9" name="TextBox 8"/>
          <p:cNvSpPr txBox="1"/>
          <p:nvPr>
            <p:custDataLst>
              <p:tags r:id="rId7"/>
            </p:custDataLst>
          </p:nvPr>
        </p:nvSpPr>
        <p:spPr>
          <a:xfrm>
            <a:off x="6497955" y="2458085"/>
            <a:ext cx="4754880" cy="6451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chemeClr val="tx1"/>
                </a:solidFill>
              </a:rPr>
              <a:t>Popular AQI platforms but limited to monitoring stations in metro cities; no district-level granularity or combined weather analysis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>
            <p:custDataLst>
              <p:tags r:id="rId8"/>
            </p:custDataLst>
          </p:nvPr>
        </p:nvSpPr>
        <p:spPr>
          <a:xfrm>
            <a:off x="617220" y="3704590"/>
            <a:ext cx="5303520" cy="13716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920115" y="3887470"/>
            <a:ext cx="4754880" cy="3219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1">
                <a:solidFill>
                  <a:srgbClr val="FBBF24"/>
                </a:solidFill>
                <a:latin typeface="Segoe UI" panose="020B0502040204020203"/>
              </a:defRPr>
            </a:pPr>
            <a:r>
              <a:rPr dirty="0" err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OpenWeatherMap</a:t>
            </a:r>
            <a:r>
              <a:rPr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 APIs</a:t>
            </a:r>
            <a:endParaRPr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" name="Text Box 1"/>
          <p:cNvSpPr txBox="1"/>
          <p:nvPr>
            <p:custDataLst>
              <p:tags r:id="rId10"/>
            </p:custDataLst>
          </p:nvPr>
        </p:nvSpPr>
        <p:spPr>
          <a:xfrm>
            <a:off x="920115" y="4268470"/>
            <a:ext cx="4754245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algn="just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 dirty="0">
                <a:solidFill>
                  <a:schemeClr val="tx1"/>
                </a:solidFill>
                <a:sym typeface="+mn-ea"/>
              </a:rPr>
              <a:t>Provides free-tier access to current weather, air pollution data, and historical air pollution API — chosen for its comprehensive coverage and developer-friendly access</a:t>
            </a:r>
            <a:endParaRPr lang="en-US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6" name="Rounded Rectangle 15"/>
          <p:cNvSpPr/>
          <p:nvPr>
            <p:custDataLst>
              <p:tags r:id="rId11"/>
            </p:custDataLst>
          </p:nvPr>
        </p:nvSpPr>
        <p:spPr>
          <a:xfrm>
            <a:off x="6223635" y="3704590"/>
            <a:ext cx="5303520" cy="13716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6497955" y="3841750"/>
            <a:ext cx="4754880" cy="3219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1">
                <a:solidFill>
                  <a:srgbClr val="FBBF24"/>
                </a:solidFill>
                <a:latin typeface="Segoe UI" panose="020B0502040204020203"/>
              </a:defRPr>
            </a:pPr>
            <a:r>
              <a:rPr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ASP.NET MVC + EF Core</a:t>
            </a:r>
            <a:endParaRPr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18" name="TextBox 17"/>
          <p:cNvSpPr txBox="1"/>
          <p:nvPr>
            <p:custDataLst>
              <p:tags r:id="rId13"/>
            </p:custDataLst>
          </p:nvPr>
        </p:nvSpPr>
        <p:spPr>
          <a:xfrm>
            <a:off x="6497955" y="4207510"/>
            <a:ext cx="4754880" cy="6451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chemeClr val="tx1"/>
                </a:solidFill>
              </a:rPr>
              <a:t>Microsoft's robust framework for building scalable web applications with the repository pattern, dependency injection, and code-first database migrations</a:t>
            </a:r>
            <a:endParaRPr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Existing System &amp; Limitations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463040"/>
                <a:gridCol w="1188720"/>
                <a:gridCol w="1371600"/>
                <a:gridCol w="1188720"/>
                <a:gridCol w="1005840"/>
                <a:gridCol w="3474720"/>
              </a:tblGrid>
              <a:tr h="5334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1450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Coverage</a:t>
                      </a:r>
                    </a:p>
                  </a:txBody>
                  <a:tcPr anchor="ctr">
                    <a:solidFill>
                      <a:srgbClr val="1450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Real-Time</a:t>
                      </a:r>
                      <a:br/>
                      <a:r>
                        <a:t>AQI?</a:t>
                      </a:r>
                    </a:p>
                  </a:txBody>
                  <a:tcPr anchor="ctr">
                    <a:solidFill>
                      <a:srgbClr val="1450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Historical</a:t>
                      </a:r>
                      <a:br/>
                      <a:r>
                        <a:t>Trends?</a:t>
                      </a:r>
                    </a:p>
                  </a:txBody>
                  <a:tcPr anchor="ctr">
                    <a:solidFill>
                      <a:srgbClr val="1450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Health</a:t>
                      </a:r>
                      <a:br/>
                      <a:r>
                        <a:t>Recs?</a:t>
                      </a:r>
                    </a:p>
                  </a:txBody>
                  <a:tcPr anchor="ctr">
                    <a:solidFill>
                      <a:srgbClr val="1450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Export?</a:t>
                      </a:r>
                    </a:p>
                  </a:txBody>
                  <a:tcPr anchor="ctr">
                    <a:solidFill>
                      <a:srgbClr val="1450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Key Limitation</a:t>
                      </a:r>
                    </a:p>
                  </a:txBody>
                  <a:tcPr anchor="ctr">
                    <a:solidFill>
                      <a:srgbClr val="14508A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AQICN.org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  <a:latin typeface="Segoe UI" panose="020B0502040204020203"/>
                        </a:defRPr>
                      </a:pPr>
                      <a:r>
                        <a:rPr b="1"/>
                        <a:t>Global (stations)</a:t>
                      </a:r>
                      <a:endParaRPr b="1"/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  <a:latin typeface="Segoe UI" panose="020B0502040204020203"/>
                        </a:defRPr>
                      </a:pPr>
                      <a:r>
                        <a:t>✘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  <a:latin typeface="Segoe UI" panose="020B0502040204020203"/>
                        </a:defRPr>
                      </a:pPr>
                      <a:r>
                        <a:t>✘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  <a:latin typeface="Segoe UI" panose="020B0502040204020203"/>
                        </a:defRPr>
                      </a:pPr>
                      <a:r>
                        <a:t>✘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  <a:latin typeface="Segoe UI" panose="020B0502040204020203"/>
                        </a:defRPr>
                      </a:pPr>
                      <a:r>
                        <a:t>✘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94A3B8"/>
                          </a:solidFill>
                          <a:latin typeface="Segoe UI" panose="020B0502040204020203"/>
                        </a:defRPr>
                      </a:pPr>
                      <a:r>
                        <a:rPr b="1"/>
                        <a:t>Metro stations only; no Indian district-level data; no historical trends or health recs</a:t>
                      </a:r>
                      <a:endParaRPr b="1"/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IQAir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  <a:latin typeface="Segoe UI" panose="020B0502040204020203"/>
                        </a:defRPr>
                      </a:pPr>
                      <a:r>
                        <a:rPr b="1"/>
                        <a:t>Global (cities)</a:t>
                      </a:r>
                      <a:endParaRPr b="1"/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0E676"/>
                          </a:solidFill>
                          <a:latin typeface="Segoe UI" panose="020B0502040204020203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BBF24"/>
                          </a:solidFill>
                          <a:latin typeface="Segoe UI" panose="020B0502040204020203"/>
                        </a:defRPr>
                      </a:pPr>
                      <a:r>
                        <a:t>~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  <a:latin typeface="Segoe UI" panose="020B0502040204020203"/>
                        </a:defRPr>
                      </a:pPr>
                      <a:r>
                        <a:t>✘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  <a:latin typeface="Segoe UI" panose="020B0502040204020203"/>
                        </a:defRPr>
                      </a:pPr>
                      <a:r>
                        <a:t>✘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94A3B8"/>
                          </a:solidFill>
                          <a:latin typeface="Segoe UI" panose="020B0502040204020203"/>
                        </a:defRPr>
                      </a:pPr>
                      <a:r>
                        <a:rPr b="1"/>
                        <a:t>Limited to major cities; paid API for historical data; no district granularity for India</a:t>
                      </a:r>
                      <a:endParaRPr b="1"/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CPCB Dashboard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  <a:latin typeface="Segoe UI" panose="020B0502040204020203"/>
                        </a:defRPr>
                      </a:pPr>
                      <a:r>
                        <a:rPr b="1"/>
                        <a:t>India (stations)</a:t>
                      </a:r>
                      <a:endParaRPr b="1"/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0E676"/>
                          </a:solidFill>
                          <a:latin typeface="Segoe UI" panose="020B0502040204020203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BBF24"/>
                          </a:solidFill>
                          <a:latin typeface="Segoe UI" panose="020B0502040204020203"/>
                        </a:defRPr>
                      </a:pPr>
                      <a:r>
                        <a:t>~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  <a:latin typeface="Segoe UI" panose="020B0502040204020203"/>
                        </a:defRPr>
                      </a:pPr>
                      <a:r>
                        <a:t>✘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  <a:latin typeface="Segoe UI" panose="020B0502040204020203"/>
                        </a:defRPr>
                      </a:pPr>
                      <a:r>
                        <a:t>✘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94A3B8"/>
                          </a:solidFill>
                          <a:latin typeface="Segoe UI" panose="020B0502040204020203"/>
                        </a:defRPr>
                      </a:pPr>
                      <a:r>
                        <a:rPr b="1"/>
                        <a:t>Only CPCB monitoring stations (~400); no weather integration; clunky legacy UI</a:t>
                      </a:r>
                      <a:endParaRPr b="1"/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SAFAR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  <a:latin typeface="Segoe UI" panose="020B0502040204020203"/>
                        </a:defRPr>
                      </a:pPr>
                      <a:r>
                        <a:rPr b="1"/>
                        <a:t>India (8 cities)</a:t>
                      </a:r>
                      <a:endParaRPr b="1"/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0E676"/>
                          </a:solidFill>
                          <a:latin typeface="Segoe UI" panose="020B0502040204020203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0E676"/>
                          </a:solidFill>
                          <a:latin typeface="Segoe UI" panose="020B0502040204020203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BBF24"/>
                          </a:solidFill>
                          <a:latin typeface="Segoe UI" panose="020B0502040204020203"/>
                        </a:defRPr>
                      </a:pPr>
                      <a:r>
                        <a:t>~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  <a:latin typeface="Segoe UI" panose="020B0502040204020203"/>
                        </a:defRPr>
                      </a:pPr>
                      <a:r>
                        <a:t>✘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94A3B8"/>
                          </a:solidFill>
                          <a:latin typeface="Segoe UI" panose="020B0502040204020203"/>
                        </a:defRPr>
                      </a:pPr>
                      <a:r>
                        <a:rPr b="1"/>
                        <a:t>Covers only 8 metro cities; no district-level monitoring; no export or alert subscriptions</a:t>
                      </a:r>
                      <a:endParaRPr b="1"/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00E676"/>
                          </a:solidFill>
                          <a:latin typeface="Segoe UI" panose="020B0502040204020203"/>
                        </a:defRPr>
                      </a:pPr>
                      <a:r>
                        <a:t>EnviroWatch ✔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94A3B8"/>
                          </a:solidFill>
                          <a:latin typeface="Segoe UI" panose="020B0502040204020203"/>
                        </a:defRPr>
                      </a:pPr>
                      <a:r>
                        <a:rPr b="1"/>
                        <a:t>India (780+</a:t>
                      </a:r>
                      <a:br>
                        <a:rPr b="1"/>
                      </a:br>
                      <a:r>
                        <a:rPr b="1"/>
                        <a:t>districts)</a:t>
                      </a:r>
                      <a:endParaRPr b="1"/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0E676"/>
                          </a:solidFill>
                          <a:latin typeface="Segoe UI" panose="020B0502040204020203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0E676"/>
                          </a:solidFill>
                          <a:latin typeface="Segoe UI" panose="020B0502040204020203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0E676"/>
                          </a:solidFill>
                          <a:latin typeface="Segoe UI" panose="020B0502040204020203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0E676"/>
                          </a:solidFill>
                          <a:latin typeface="Segoe UI" panose="020B0502040204020203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E676"/>
                          </a:solidFill>
                          <a:latin typeface="Segoe UI" panose="020B0502040204020203"/>
                        </a:defRPr>
                      </a:pPr>
                      <a:r>
                        <a:rPr b="1"/>
                        <a:t>Full district coverage + weather + NAQI + health recs + export + alerts in one platform</a:t>
                      </a:r>
                      <a:endParaRPr b="1"/>
                    </a:p>
                  </a:txBody>
                  <a:tcPr anchor="ctr">
                    <a:solidFill>
                      <a:srgbClr val="0F1525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0749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0B1E30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5"/>
          <p:cNvSpPr txBox="1"/>
          <p:nvPr/>
        </p:nvSpPr>
        <p:spPr>
          <a:xfrm>
            <a:off x="73152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 panose="020B0502040204020203"/>
              </a:defRPr>
            </a:pPr>
            <a:r>
              <a:t>Engineering Gap Solved:</a:t>
            </a:r>
          </a:p>
        </p:txBody>
      </p:sp>
      <p:sp>
        <p:nvSpPr>
          <p:cNvPr id="14" name="TextBox 6"/>
          <p:cNvSpPr txBox="1"/>
          <p:nvPr/>
        </p:nvSpPr>
        <p:spPr>
          <a:xfrm>
            <a:off x="731520" y="5486400"/>
            <a:ext cx="107899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/>
              <a:t>No existing free platform combines real-time weather + Indian NAQI (CPCB breakpoints) + historical trends + health recommendations + PDF/CSV export for all 780+ Indian districts. EnviroWatch also solves the OpenWeatherMap rate-limit challenge by using batched background snapshots (50 districts/batch, 500ms delay) and on-demand API calls with lazy-loading on marker click.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Tools &amp; Technologies	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28" name="TextBox 4"/>
          <p:cNvSpPr txBox="1"/>
          <p:nvPr/>
        </p:nvSpPr>
        <p:spPr>
          <a:xfrm>
            <a:off x="518160" y="155448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Backend</a:t>
            </a:r>
          </a:p>
        </p:txBody>
      </p:sp>
      <p:sp>
        <p:nvSpPr>
          <p:cNvPr id="30" name="Rectangle 5"/>
          <p:cNvSpPr/>
          <p:nvPr/>
        </p:nvSpPr>
        <p:spPr>
          <a:xfrm>
            <a:off x="518160" y="1920240"/>
            <a:ext cx="1097280" cy="25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31" name="TextBox 6"/>
          <p:cNvSpPr txBox="1"/>
          <p:nvPr/>
        </p:nvSpPr>
        <p:spPr>
          <a:xfrm>
            <a:off x="518160" y="214884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C# .NET 8 MVC</a:t>
            </a:r>
          </a:p>
        </p:txBody>
      </p:sp>
      <p:sp>
        <p:nvSpPr>
          <p:cNvPr id="32" name="TextBox 7"/>
          <p:cNvSpPr txBox="1"/>
          <p:nvPr/>
        </p:nvSpPr>
        <p:spPr>
          <a:xfrm>
            <a:off x="518160" y="2468880"/>
            <a:ext cx="1828800" cy="5486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Core application framework</a:t>
            </a:r>
          </a:p>
        </p:txBody>
      </p:sp>
      <p:sp>
        <p:nvSpPr>
          <p:cNvPr id="33" name="TextBox 8"/>
          <p:cNvSpPr txBox="1"/>
          <p:nvPr/>
        </p:nvSpPr>
        <p:spPr>
          <a:xfrm>
            <a:off x="518160" y="329184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Entity Framework Core</a:t>
            </a:r>
          </a:p>
        </p:txBody>
      </p:sp>
      <p:sp>
        <p:nvSpPr>
          <p:cNvPr id="34" name="TextBox 9"/>
          <p:cNvSpPr txBox="1"/>
          <p:nvPr/>
        </p:nvSpPr>
        <p:spPr>
          <a:xfrm>
            <a:off x="518160" y="3611880"/>
            <a:ext cx="1828800" cy="5486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ORM for database operations</a:t>
            </a:r>
          </a:p>
        </p:txBody>
      </p:sp>
      <p:sp>
        <p:nvSpPr>
          <p:cNvPr id="35" name="TextBox 10"/>
          <p:cNvSpPr txBox="1"/>
          <p:nvPr/>
        </p:nvSpPr>
        <p:spPr>
          <a:xfrm>
            <a:off x="518160" y="443484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Hosted Background Service</a:t>
            </a:r>
          </a:p>
        </p:txBody>
      </p:sp>
      <p:sp>
        <p:nvSpPr>
          <p:cNvPr id="36" name="TextBox 11"/>
          <p:cNvSpPr txBox="1"/>
          <p:nvPr/>
        </p:nvSpPr>
        <p:spPr>
          <a:xfrm>
            <a:off x="518160" y="4754880"/>
            <a:ext cx="1828800" cy="5486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Periodic data snapshot scheduling</a:t>
            </a:r>
          </a:p>
        </p:txBody>
      </p:sp>
      <p:sp>
        <p:nvSpPr>
          <p:cNvPr id="37" name="TextBox 13"/>
          <p:cNvSpPr txBox="1"/>
          <p:nvPr/>
        </p:nvSpPr>
        <p:spPr>
          <a:xfrm>
            <a:off x="2849879" y="155448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BBF24"/>
                </a:solidFill>
                <a:latin typeface="Segoe UI" panose="020B0502040204020203"/>
              </a:defRPr>
            </a:pPr>
            <a:r>
              <a:t>Database</a:t>
            </a:r>
          </a:p>
        </p:txBody>
      </p:sp>
      <p:sp>
        <p:nvSpPr>
          <p:cNvPr id="38" name="Rectangle 14"/>
          <p:cNvSpPr/>
          <p:nvPr/>
        </p:nvSpPr>
        <p:spPr>
          <a:xfrm>
            <a:off x="2849879" y="1920240"/>
            <a:ext cx="1097280" cy="25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39" name="TextBox 15"/>
          <p:cNvSpPr txBox="1"/>
          <p:nvPr/>
        </p:nvSpPr>
        <p:spPr>
          <a:xfrm>
            <a:off x="2849879" y="214884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MS SQL Server</a:t>
            </a:r>
          </a:p>
        </p:txBody>
      </p:sp>
      <p:sp>
        <p:nvSpPr>
          <p:cNvPr id="40" name="TextBox 16"/>
          <p:cNvSpPr txBox="1"/>
          <p:nvPr/>
        </p:nvSpPr>
        <p:spPr>
          <a:xfrm>
            <a:off x="2849879" y="2468880"/>
            <a:ext cx="1828800" cy="5486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Primary relational database</a:t>
            </a:r>
          </a:p>
        </p:txBody>
      </p:sp>
      <p:sp>
        <p:nvSpPr>
          <p:cNvPr id="41" name="TextBox 17"/>
          <p:cNvSpPr txBox="1"/>
          <p:nvPr/>
        </p:nvSpPr>
        <p:spPr>
          <a:xfrm>
            <a:off x="2849879" y="329184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Code-First Migrations</a:t>
            </a:r>
          </a:p>
        </p:txBody>
      </p:sp>
      <p:sp>
        <p:nvSpPr>
          <p:cNvPr id="42" name="TextBox 18"/>
          <p:cNvSpPr txBox="1"/>
          <p:nvPr/>
        </p:nvSpPr>
        <p:spPr>
          <a:xfrm>
            <a:off x="2849879" y="3611880"/>
            <a:ext cx="1828800" cy="5486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Schema management via EF Core</a:t>
            </a:r>
          </a:p>
        </p:txBody>
      </p:sp>
      <p:sp>
        <p:nvSpPr>
          <p:cNvPr id="43" name="TextBox 19"/>
          <p:cNvSpPr txBox="1"/>
          <p:nvPr/>
        </p:nvSpPr>
        <p:spPr>
          <a:xfrm>
            <a:off x="2849879" y="443484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JSON Seeder (780+ districts)</a:t>
            </a:r>
          </a:p>
        </p:txBody>
      </p:sp>
      <p:sp>
        <p:nvSpPr>
          <p:cNvPr id="44" name="TextBox 20"/>
          <p:cNvSpPr txBox="1"/>
          <p:nvPr/>
        </p:nvSpPr>
        <p:spPr>
          <a:xfrm>
            <a:off x="2849879" y="4754880"/>
            <a:ext cx="1828800" cy="5486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Bulk district data loading</a:t>
            </a:r>
          </a:p>
        </p:txBody>
      </p:sp>
      <p:sp>
        <p:nvSpPr>
          <p:cNvPr id="45" name="TextBox 22"/>
          <p:cNvSpPr txBox="1"/>
          <p:nvPr/>
        </p:nvSpPr>
        <p:spPr>
          <a:xfrm>
            <a:off x="5181599" y="155448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38BDF8"/>
                </a:solidFill>
                <a:latin typeface="Segoe UI" panose="020B0502040204020203"/>
              </a:defRPr>
            </a:pPr>
            <a:r>
              <a:t>Frontend</a:t>
            </a:r>
          </a:p>
        </p:txBody>
      </p:sp>
      <p:sp>
        <p:nvSpPr>
          <p:cNvPr id="46" name="Rectangle 23"/>
          <p:cNvSpPr/>
          <p:nvPr/>
        </p:nvSpPr>
        <p:spPr>
          <a:xfrm>
            <a:off x="5181599" y="1920240"/>
            <a:ext cx="1097280" cy="25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7" name="TextBox 24"/>
          <p:cNvSpPr txBox="1"/>
          <p:nvPr/>
        </p:nvSpPr>
        <p:spPr>
          <a:xfrm>
            <a:off x="5181599" y="214884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JavaScript / jQuery</a:t>
            </a:r>
          </a:p>
        </p:txBody>
      </p:sp>
      <p:sp>
        <p:nvSpPr>
          <p:cNvPr id="48" name="TextBox 25"/>
          <p:cNvSpPr txBox="1"/>
          <p:nvPr/>
        </p:nvSpPr>
        <p:spPr>
          <a:xfrm>
            <a:off x="5181599" y="2468880"/>
            <a:ext cx="1828800" cy="5486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DOM manipulation &amp; AJAX</a:t>
            </a:r>
          </a:p>
        </p:txBody>
      </p:sp>
      <p:sp>
        <p:nvSpPr>
          <p:cNvPr id="49" name="TextBox 26"/>
          <p:cNvSpPr txBox="1"/>
          <p:nvPr/>
        </p:nvSpPr>
        <p:spPr>
          <a:xfrm>
            <a:off x="5181599" y="329184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Leaflet.js</a:t>
            </a:r>
          </a:p>
        </p:txBody>
      </p:sp>
      <p:sp>
        <p:nvSpPr>
          <p:cNvPr id="50" name="TextBox 27"/>
          <p:cNvSpPr txBox="1"/>
          <p:nvPr/>
        </p:nvSpPr>
        <p:spPr>
          <a:xfrm>
            <a:off x="5181599" y="3611880"/>
            <a:ext cx="1828800" cy="5486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Interactive map with markers</a:t>
            </a:r>
          </a:p>
        </p:txBody>
      </p:sp>
      <p:sp>
        <p:nvSpPr>
          <p:cNvPr id="51" name="TextBox 28"/>
          <p:cNvSpPr txBox="1"/>
          <p:nvPr/>
        </p:nvSpPr>
        <p:spPr>
          <a:xfrm>
            <a:off x="5181599" y="443484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Chart.js</a:t>
            </a:r>
          </a:p>
        </p:txBody>
      </p:sp>
      <p:sp>
        <p:nvSpPr>
          <p:cNvPr id="52" name="TextBox 29"/>
          <p:cNvSpPr txBox="1"/>
          <p:nvPr/>
        </p:nvSpPr>
        <p:spPr>
          <a:xfrm>
            <a:off x="5181599" y="4754880"/>
            <a:ext cx="1828800" cy="5486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Line, bar, doughnut charts</a:t>
            </a:r>
          </a:p>
        </p:txBody>
      </p:sp>
      <p:sp>
        <p:nvSpPr>
          <p:cNvPr id="53" name="TextBox 31"/>
          <p:cNvSpPr txBox="1"/>
          <p:nvPr/>
        </p:nvSpPr>
        <p:spPr>
          <a:xfrm>
            <a:off x="7513319" y="155448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A78BFA"/>
                </a:solidFill>
                <a:latin typeface="Segoe UI" panose="020B0502040204020203"/>
              </a:defRPr>
            </a:pPr>
            <a:r>
              <a:t>APIs &amp; Tools</a:t>
            </a:r>
          </a:p>
        </p:txBody>
      </p:sp>
      <p:sp>
        <p:nvSpPr>
          <p:cNvPr id="54" name="Rectangle 32"/>
          <p:cNvSpPr/>
          <p:nvPr/>
        </p:nvSpPr>
        <p:spPr>
          <a:xfrm>
            <a:off x="7513319" y="1920240"/>
            <a:ext cx="1097280" cy="25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5" name="TextBox 33"/>
          <p:cNvSpPr txBox="1"/>
          <p:nvPr/>
        </p:nvSpPr>
        <p:spPr>
          <a:xfrm>
            <a:off x="7513319" y="214884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OpenWeatherMap Weather API</a:t>
            </a:r>
          </a:p>
        </p:txBody>
      </p:sp>
      <p:sp>
        <p:nvSpPr>
          <p:cNvPr id="56" name="TextBox 34"/>
          <p:cNvSpPr txBox="1"/>
          <p:nvPr/>
        </p:nvSpPr>
        <p:spPr>
          <a:xfrm>
            <a:off x="7513319" y="2468880"/>
            <a:ext cx="1828800" cy="5486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Real-time weather data</a:t>
            </a:r>
          </a:p>
        </p:txBody>
      </p:sp>
      <p:sp>
        <p:nvSpPr>
          <p:cNvPr id="57" name="TextBox 35"/>
          <p:cNvSpPr txBox="1"/>
          <p:nvPr/>
        </p:nvSpPr>
        <p:spPr>
          <a:xfrm>
            <a:off x="7513319" y="329184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OpenWeather Air Pollution API</a:t>
            </a:r>
          </a:p>
        </p:txBody>
      </p:sp>
      <p:sp>
        <p:nvSpPr>
          <p:cNvPr id="58" name="TextBox 36"/>
          <p:cNvSpPr txBox="1"/>
          <p:nvPr/>
        </p:nvSpPr>
        <p:spPr>
          <a:xfrm>
            <a:off x="7513319" y="3611880"/>
            <a:ext cx="1828800" cy="5486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Current + historical AQI</a:t>
            </a:r>
          </a:p>
        </p:txBody>
      </p:sp>
      <p:sp>
        <p:nvSpPr>
          <p:cNvPr id="59" name="TextBox 37"/>
          <p:cNvSpPr txBox="1"/>
          <p:nvPr/>
        </p:nvSpPr>
        <p:spPr>
          <a:xfrm>
            <a:off x="7513319" y="4434840"/>
            <a:ext cx="182880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QuestPDF</a:t>
            </a:r>
          </a:p>
        </p:txBody>
      </p:sp>
      <p:sp>
        <p:nvSpPr>
          <p:cNvPr id="60" name="TextBox 38"/>
          <p:cNvSpPr txBox="1"/>
          <p:nvPr/>
        </p:nvSpPr>
        <p:spPr>
          <a:xfrm>
            <a:off x="7513319" y="4754880"/>
            <a:ext cx="1828800" cy="5486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Server-side PDF report generation</a:t>
            </a:r>
          </a:p>
        </p:txBody>
      </p:sp>
      <p:sp>
        <p:nvSpPr>
          <p:cNvPr id="61" name="TextBox 40"/>
          <p:cNvSpPr txBox="1"/>
          <p:nvPr/>
        </p:nvSpPr>
        <p:spPr>
          <a:xfrm>
            <a:off x="984504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472B6"/>
                </a:solidFill>
                <a:latin typeface="Segoe UI" panose="020B0502040204020203"/>
              </a:defRPr>
            </a:pPr>
            <a:r>
              <a:t>Auth &amp; PWA</a:t>
            </a:r>
          </a:p>
        </p:txBody>
      </p:sp>
      <p:sp>
        <p:nvSpPr>
          <p:cNvPr id="62" name="Rectangle 41"/>
          <p:cNvSpPr/>
          <p:nvPr/>
        </p:nvSpPr>
        <p:spPr>
          <a:xfrm>
            <a:off x="9845040" y="1920240"/>
            <a:ext cx="1097280" cy="25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63" name="TextBox 42"/>
          <p:cNvSpPr txBox="1"/>
          <p:nvPr/>
        </p:nvSpPr>
        <p:spPr>
          <a:xfrm>
            <a:off x="984504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Google OAuth 2.0</a:t>
            </a:r>
          </a:p>
        </p:txBody>
      </p:sp>
      <p:sp>
        <p:nvSpPr>
          <p:cNvPr id="64" name="TextBox 43"/>
          <p:cNvSpPr txBox="1"/>
          <p:nvPr/>
        </p:nvSpPr>
        <p:spPr>
          <a:xfrm>
            <a:off x="984504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Social login authentication</a:t>
            </a:r>
          </a:p>
        </p:txBody>
      </p:sp>
      <p:sp>
        <p:nvSpPr>
          <p:cNvPr id="65" name="TextBox 44"/>
          <p:cNvSpPr txBox="1"/>
          <p:nvPr/>
        </p:nvSpPr>
        <p:spPr>
          <a:xfrm>
            <a:off x="98450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Service Worker + Manifest</a:t>
            </a:r>
          </a:p>
        </p:txBody>
      </p:sp>
      <p:sp>
        <p:nvSpPr>
          <p:cNvPr id="66" name="TextBox 45"/>
          <p:cNvSpPr txBox="1"/>
          <p:nvPr/>
        </p:nvSpPr>
        <p:spPr>
          <a:xfrm>
            <a:off x="9845040" y="3611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PWA installability</a:t>
            </a:r>
          </a:p>
        </p:txBody>
      </p:sp>
      <p:sp>
        <p:nvSpPr>
          <p:cNvPr id="67" name="TextBox 46"/>
          <p:cNvSpPr txBox="1"/>
          <p:nvPr/>
        </p:nvSpPr>
        <p:spPr>
          <a:xfrm>
            <a:off x="984504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Cookie Authentication</a:t>
            </a:r>
          </a:p>
        </p:txBody>
      </p:sp>
      <p:sp>
        <p:nvSpPr>
          <p:cNvPr id="68" name="TextBox 47"/>
          <p:cNvSpPr txBox="1"/>
          <p:nvPr/>
        </p:nvSpPr>
        <p:spPr>
          <a:xfrm>
            <a:off x="9845040" y="4754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Session management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18313" y="137160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71" name="TextBox 4"/>
          <p:cNvSpPr txBox="1"/>
          <p:nvPr/>
        </p:nvSpPr>
        <p:spPr>
          <a:xfrm>
            <a:off x="597688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Backend</a:t>
            </a:r>
          </a:p>
        </p:txBody>
      </p:sp>
      <p:sp>
        <p:nvSpPr>
          <p:cNvPr id="73" name="TextBox 6"/>
          <p:cNvSpPr txBox="1"/>
          <p:nvPr/>
        </p:nvSpPr>
        <p:spPr>
          <a:xfrm>
            <a:off x="457200" y="2148840"/>
            <a:ext cx="22555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C# .NET 8 MVC</a:t>
            </a:r>
          </a:p>
        </p:txBody>
      </p:sp>
      <p:sp>
        <p:nvSpPr>
          <p:cNvPr id="74" name="TextBox 7"/>
          <p:cNvSpPr txBox="1"/>
          <p:nvPr/>
        </p:nvSpPr>
        <p:spPr>
          <a:xfrm>
            <a:off x="457200" y="2468880"/>
            <a:ext cx="225552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Core application framework</a:t>
            </a:r>
          </a:p>
        </p:txBody>
      </p:sp>
      <p:sp>
        <p:nvSpPr>
          <p:cNvPr id="75" name="TextBox 8"/>
          <p:cNvSpPr txBox="1"/>
          <p:nvPr/>
        </p:nvSpPr>
        <p:spPr>
          <a:xfrm>
            <a:off x="518160" y="3291840"/>
            <a:ext cx="219519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Entity Framework </a:t>
            </a:r>
          </a:p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Core</a:t>
            </a:r>
          </a:p>
        </p:txBody>
      </p:sp>
      <p:sp>
        <p:nvSpPr>
          <p:cNvPr id="76" name="TextBox 9"/>
          <p:cNvSpPr txBox="1"/>
          <p:nvPr/>
        </p:nvSpPr>
        <p:spPr>
          <a:xfrm>
            <a:off x="518795" y="3752215"/>
            <a:ext cx="21945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ORM for database operations</a:t>
            </a:r>
          </a:p>
        </p:txBody>
      </p:sp>
      <p:sp>
        <p:nvSpPr>
          <p:cNvPr id="77" name="TextBox 10"/>
          <p:cNvSpPr txBox="1"/>
          <p:nvPr/>
        </p:nvSpPr>
        <p:spPr>
          <a:xfrm>
            <a:off x="518160" y="4434840"/>
            <a:ext cx="21939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Hosted Background</a:t>
            </a:r>
          </a:p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 Service</a:t>
            </a:r>
          </a:p>
        </p:txBody>
      </p:sp>
      <p:sp>
        <p:nvSpPr>
          <p:cNvPr id="78" name="TextBox 11"/>
          <p:cNvSpPr txBox="1"/>
          <p:nvPr/>
        </p:nvSpPr>
        <p:spPr>
          <a:xfrm>
            <a:off x="518160" y="4895215"/>
            <a:ext cx="227012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Periodic data snapshot scheduling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789072" y="137160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80" name="TextBox 13"/>
          <p:cNvSpPr txBox="1"/>
          <p:nvPr/>
        </p:nvSpPr>
        <p:spPr>
          <a:xfrm>
            <a:off x="2850032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BBF24"/>
                </a:solidFill>
                <a:latin typeface="Segoe UI" panose="020B0502040204020203"/>
              </a:defRPr>
            </a:pPr>
            <a:r>
              <a:t>Database</a:t>
            </a:r>
          </a:p>
        </p:txBody>
      </p:sp>
      <p:sp>
        <p:nvSpPr>
          <p:cNvPr id="82" name="TextBox 15"/>
          <p:cNvSpPr txBox="1"/>
          <p:nvPr/>
        </p:nvSpPr>
        <p:spPr>
          <a:xfrm>
            <a:off x="2788920" y="2148840"/>
            <a:ext cx="21945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MS SQL Server</a:t>
            </a:r>
          </a:p>
        </p:txBody>
      </p:sp>
      <p:sp>
        <p:nvSpPr>
          <p:cNvPr id="83" name="TextBox 16"/>
          <p:cNvSpPr txBox="1"/>
          <p:nvPr/>
        </p:nvSpPr>
        <p:spPr>
          <a:xfrm>
            <a:off x="2788920" y="2468880"/>
            <a:ext cx="21945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Primary relational database</a:t>
            </a:r>
          </a:p>
        </p:txBody>
      </p:sp>
      <p:sp>
        <p:nvSpPr>
          <p:cNvPr id="84" name="TextBox 17"/>
          <p:cNvSpPr txBox="1"/>
          <p:nvPr/>
        </p:nvSpPr>
        <p:spPr>
          <a:xfrm>
            <a:off x="2788920" y="3291840"/>
            <a:ext cx="21945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Code-First Migrations</a:t>
            </a:r>
          </a:p>
        </p:txBody>
      </p:sp>
      <p:sp>
        <p:nvSpPr>
          <p:cNvPr id="85" name="TextBox 18"/>
          <p:cNvSpPr txBox="1"/>
          <p:nvPr/>
        </p:nvSpPr>
        <p:spPr>
          <a:xfrm>
            <a:off x="2788920" y="3611880"/>
            <a:ext cx="21945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Schema management via EF Core</a:t>
            </a:r>
          </a:p>
        </p:txBody>
      </p:sp>
      <p:sp>
        <p:nvSpPr>
          <p:cNvPr id="86" name="TextBox 19"/>
          <p:cNvSpPr txBox="1"/>
          <p:nvPr/>
        </p:nvSpPr>
        <p:spPr>
          <a:xfrm>
            <a:off x="2788920" y="4434840"/>
            <a:ext cx="21945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JSON Seeder</a:t>
            </a:r>
          </a:p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 (780+ districts)</a:t>
            </a:r>
          </a:p>
        </p:txBody>
      </p:sp>
      <p:sp>
        <p:nvSpPr>
          <p:cNvPr id="87" name="TextBox 20"/>
          <p:cNvSpPr txBox="1"/>
          <p:nvPr/>
        </p:nvSpPr>
        <p:spPr>
          <a:xfrm>
            <a:off x="2788920" y="4895215"/>
            <a:ext cx="21945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Bulk district data loading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054752" y="137160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89" name="TextBox 22"/>
          <p:cNvSpPr txBox="1"/>
          <p:nvPr/>
        </p:nvSpPr>
        <p:spPr>
          <a:xfrm>
            <a:off x="5120792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38BDF8"/>
                </a:solidFill>
                <a:latin typeface="Segoe UI" panose="020B0502040204020203"/>
              </a:defRPr>
            </a:pPr>
            <a:r>
              <a:t>Frontend</a:t>
            </a:r>
          </a:p>
        </p:txBody>
      </p:sp>
      <p:sp>
        <p:nvSpPr>
          <p:cNvPr id="91" name="TextBox 24"/>
          <p:cNvSpPr txBox="1"/>
          <p:nvPr/>
        </p:nvSpPr>
        <p:spPr>
          <a:xfrm>
            <a:off x="5053965" y="2148840"/>
            <a:ext cx="219583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JavaScript / jQuery</a:t>
            </a:r>
          </a:p>
        </p:txBody>
      </p:sp>
      <p:sp>
        <p:nvSpPr>
          <p:cNvPr id="92" name="TextBox 25"/>
          <p:cNvSpPr txBox="1"/>
          <p:nvPr/>
        </p:nvSpPr>
        <p:spPr>
          <a:xfrm>
            <a:off x="5054600" y="2468880"/>
            <a:ext cx="219392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DOM manipulation &amp; AJAX</a:t>
            </a:r>
          </a:p>
        </p:txBody>
      </p:sp>
      <p:sp>
        <p:nvSpPr>
          <p:cNvPr id="93" name="TextBox 26"/>
          <p:cNvSpPr txBox="1"/>
          <p:nvPr/>
        </p:nvSpPr>
        <p:spPr>
          <a:xfrm>
            <a:off x="5054600" y="3291840"/>
            <a:ext cx="219392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Leaflet.js</a:t>
            </a:r>
          </a:p>
        </p:txBody>
      </p:sp>
      <p:sp>
        <p:nvSpPr>
          <p:cNvPr id="94" name="TextBox 27"/>
          <p:cNvSpPr txBox="1"/>
          <p:nvPr/>
        </p:nvSpPr>
        <p:spPr>
          <a:xfrm>
            <a:off x="5053965" y="3611880"/>
            <a:ext cx="219392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Interactive map with markers</a:t>
            </a:r>
          </a:p>
        </p:txBody>
      </p:sp>
      <p:sp>
        <p:nvSpPr>
          <p:cNvPr id="95" name="TextBox 28"/>
          <p:cNvSpPr txBox="1"/>
          <p:nvPr/>
        </p:nvSpPr>
        <p:spPr>
          <a:xfrm>
            <a:off x="5053965" y="4434840"/>
            <a:ext cx="219583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Chart.js</a:t>
            </a:r>
          </a:p>
        </p:txBody>
      </p:sp>
      <p:sp>
        <p:nvSpPr>
          <p:cNvPr id="96" name="TextBox 29"/>
          <p:cNvSpPr txBox="1"/>
          <p:nvPr/>
        </p:nvSpPr>
        <p:spPr>
          <a:xfrm>
            <a:off x="5053965" y="4754880"/>
            <a:ext cx="21945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Line, bar, doughnut charts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330592" y="137160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98" name="TextBox 31"/>
          <p:cNvSpPr txBox="1"/>
          <p:nvPr/>
        </p:nvSpPr>
        <p:spPr>
          <a:xfrm>
            <a:off x="7452512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A78BFA"/>
                </a:solidFill>
                <a:latin typeface="Segoe UI" panose="020B0502040204020203"/>
              </a:defRPr>
            </a:pPr>
            <a:r>
              <a:t>APIs &amp; Tools</a:t>
            </a:r>
          </a:p>
        </p:txBody>
      </p:sp>
      <p:sp>
        <p:nvSpPr>
          <p:cNvPr id="100" name="TextBox 33"/>
          <p:cNvSpPr txBox="1"/>
          <p:nvPr/>
        </p:nvSpPr>
        <p:spPr>
          <a:xfrm>
            <a:off x="7330440" y="2148840"/>
            <a:ext cx="21945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OpenWeatherMap </a:t>
            </a:r>
          </a:p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Weather API</a:t>
            </a:r>
          </a:p>
        </p:txBody>
      </p:sp>
      <p:sp>
        <p:nvSpPr>
          <p:cNvPr id="101" name="TextBox 34"/>
          <p:cNvSpPr txBox="1"/>
          <p:nvPr/>
        </p:nvSpPr>
        <p:spPr>
          <a:xfrm>
            <a:off x="7330440" y="2609215"/>
            <a:ext cx="21945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Real-time weather data</a:t>
            </a:r>
          </a:p>
        </p:txBody>
      </p:sp>
      <p:sp>
        <p:nvSpPr>
          <p:cNvPr id="102" name="TextBox 35"/>
          <p:cNvSpPr txBox="1"/>
          <p:nvPr/>
        </p:nvSpPr>
        <p:spPr>
          <a:xfrm>
            <a:off x="7330440" y="3291840"/>
            <a:ext cx="21945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OpenWeather Air </a:t>
            </a:r>
          </a:p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Pollution API</a:t>
            </a:r>
          </a:p>
        </p:txBody>
      </p:sp>
      <p:sp>
        <p:nvSpPr>
          <p:cNvPr id="103" name="TextBox 36"/>
          <p:cNvSpPr txBox="1"/>
          <p:nvPr/>
        </p:nvSpPr>
        <p:spPr>
          <a:xfrm>
            <a:off x="7329805" y="3752215"/>
            <a:ext cx="21945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Current + historical AQI</a:t>
            </a:r>
          </a:p>
        </p:txBody>
      </p:sp>
      <p:sp>
        <p:nvSpPr>
          <p:cNvPr id="104" name="TextBox 37"/>
          <p:cNvSpPr txBox="1"/>
          <p:nvPr/>
        </p:nvSpPr>
        <p:spPr>
          <a:xfrm>
            <a:off x="7329805" y="4434840"/>
            <a:ext cx="21951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QuestPDF</a:t>
            </a:r>
          </a:p>
        </p:txBody>
      </p:sp>
      <p:sp>
        <p:nvSpPr>
          <p:cNvPr id="105" name="TextBox 38"/>
          <p:cNvSpPr txBox="1"/>
          <p:nvPr/>
        </p:nvSpPr>
        <p:spPr>
          <a:xfrm>
            <a:off x="7329805" y="4754880"/>
            <a:ext cx="219519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Server-side PDF report generation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601353" y="137160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07" name="TextBox 40"/>
          <p:cNvSpPr txBox="1"/>
          <p:nvPr/>
        </p:nvSpPr>
        <p:spPr>
          <a:xfrm>
            <a:off x="9784233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472B6"/>
                </a:solidFill>
                <a:latin typeface="Segoe UI" panose="020B0502040204020203"/>
              </a:defRPr>
            </a:pPr>
            <a:r>
              <a:t>Auth &amp; PWA</a:t>
            </a:r>
          </a:p>
        </p:txBody>
      </p:sp>
      <p:sp>
        <p:nvSpPr>
          <p:cNvPr id="109" name="TextBox 42"/>
          <p:cNvSpPr txBox="1"/>
          <p:nvPr/>
        </p:nvSpPr>
        <p:spPr>
          <a:xfrm>
            <a:off x="9784233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Google OAuth 2.0</a:t>
            </a:r>
          </a:p>
        </p:txBody>
      </p:sp>
      <p:sp>
        <p:nvSpPr>
          <p:cNvPr id="110" name="TextBox 43"/>
          <p:cNvSpPr txBox="1"/>
          <p:nvPr/>
        </p:nvSpPr>
        <p:spPr>
          <a:xfrm>
            <a:off x="9784233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Social login authentication</a:t>
            </a:r>
          </a:p>
        </p:txBody>
      </p:sp>
      <p:sp>
        <p:nvSpPr>
          <p:cNvPr id="111" name="TextBox 44"/>
          <p:cNvSpPr txBox="1"/>
          <p:nvPr/>
        </p:nvSpPr>
        <p:spPr>
          <a:xfrm>
            <a:off x="9784233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Service Worker + Manifest</a:t>
            </a:r>
          </a:p>
        </p:txBody>
      </p:sp>
      <p:sp>
        <p:nvSpPr>
          <p:cNvPr id="112" name="TextBox 45"/>
          <p:cNvSpPr txBox="1"/>
          <p:nvPr/>
        </p:nvSpPr>
        <p:spPr>
          <a:xfrm>
            <a:off x="9784233" y="3752215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PWA installability</a:t>
            </a:r>
          </a:p>
        </p:txBody>
      </p:sp>
      <p:sp>
        <p:nvSpPr>
          <p:cNvPr id="113" name="TextBox 46"/>
          <p:cNvSpPr txBox="1"/>
          <p:nvPr/>
        </p:nvSpPr>
        <p:spPr>
          <a:xfrm>
            <a:off x="9784233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Segoe UI" panose="020B0502040204020203"/>
              </a:defRPr>
            </a:pPr>
            <a:r>
              <a:t>Cookie Authentication</a:t>
            </a:r>
          </a:p>
        </p:txBody>
      </p:sp>
      <p:sp>
        <p:nvSpPr>
          <p:cNvPr id="114" name="TextBox 47"/>
          <p:cNvSpPr txBox="1"/>
          <p:nvPr/>
        </p:nvSpPr>
        <p:spPr>
          <a:xfrm>
            <a:off x="9784233" y="4754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Session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Project Structure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10895" y="1321435"/>
            <a:ext cx="5198745" cy="5113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Consolas" panose="020B0609020204030204"/>
              </a:defRPr>
            </a:pPr>
            <a:r>
              <a:rPr dirty="0" err="1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EnviroWatch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/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200"/>
              </a:spcAft>
              <a:defRPr sz="1200" b="1">
                <a:solidFill>
                  <a:srgbClr val="00E676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├─ </a:t>
            </a:r>
            <a:r>
              <a:rPr>
                <a:sym typeface="+mn-ea"/>
              </a:rPr>
              <a:t>Controllers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/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├─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HomeController.cs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├─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AnalysisController.cs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├─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ExportController.cs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├─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SubscriptionsController.cs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└─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AccountController.cs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  <a:p>
            <a:pPr>
              <a:spcAft>
                <a:spcPts val="200"/>
              </a:spcAft>
              <a:defRPr sz="1200" b="1">
                <a:solidFill>
                  <a:srgbClr val="38BDF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├─ </a:t>
            </a:r>
            <a:r>
              <a:rPr>
                <a:sym typeface="+mn-ea"/>
              </a:rPr>
              <a:t>Models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/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├─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District.cs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,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AQISnapshot.cs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├─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WeatherSnapshot.cs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,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UserSubscription.cs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└─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AppDbContext.cs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  <a:p>
            <a:pPr>
              <a:spcAft>
                <a:spcPts val="200"/>
              </a:spcAft>
              <a:defRPr sz="1200" b="1">
                <a:solidFill>
                  <a:srgbClr val="FBBF24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├─ </a:t>
            </a:r>
            <a:r>
              <a:rPr>
                <a:sym typeface="+mn-ea"/>
              </a:rPr>
              <a:t>Services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/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├─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WeatherService.cs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,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AQIService.cs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├─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RecommendationService.cs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├─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ExportService.cs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,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DataSnapshotService.cs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└─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DistrictSeederService.cs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</a:endParaRPr>
          </a:p>
          <a:p>
            <a:pPr>
              <a:spcAft>
                <a:spcPts val="200"/>
              </a:spcAft>
              <a:defRPr sz="1200" b="1">
                <a:solidFill>
                  <a:srgbClr val="A78BFA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├─ </a:t>
            </a:r>
            <a:r>
              <a:rPr>
                <a:sym typeface="+mn-ea"/>
              </a:rPr>
              <a:t>Frontend</a:t>
            </a:r>
            <a:r>
              <a:rPr lang="en-US">
                <a:sym typeface="+mn-ea"/>
              </a:rPr>
              <a:t>Views/ (Razor - Home,Analysis, Subscription)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200"/>
              </a:spcAft>
              <a:defRPr sz="1200" b="1">
                <a:solidFill>
                  <a:srgbClr val="F472B6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├─ </a:t>
            </a:r>
            <a:r>
              <a:rPr dirty="0" err="1">
                <a:solidFill>
                  <a:srgbClr val="A424AB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wwwroot</a:t>
            </a:r>
            <a:r>
              <a:rPr dirty="0">
                <a:solidFill>
                  <a:srgbClr val="A424AB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/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├─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js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/map.js  (Leaflet map — 10.9 KB)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├─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js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/analysis.js  (Chart.js analytics — 18 KB)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├─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css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/site.css  (Dark theme +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glassmorphism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)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│   └─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manifest.json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 + service-worker.js  (PWA)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├─ Data/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indian_districts.json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  (780+ districts)</a:t>
            </a:r>
            <a:endParaRPr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 panose="020B0609020204030204"/>
              </a:defRPr>
            </a:pP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└─ </a:t>
            </a:r>
            <a:r>
              <a:rPr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Program.cs</a:t>
            </a:r>
            <a:r>
              <a:rPr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  (DI, middleware, startup)</a:t>
            </a:r>
            <a:endParaRPr lang="en-US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</p:txBody>
      </p:sp>
      <p:sp>
        <p:nvSpPr>
          <p:cNvPr id="5" name="Rounded Rectangle 4"/>
          <p:cNvSpPr/>
          <p:nvPr>
            <p:custDataLst>
              <p:tags r:id="rId2"/>
            </p:custDataLst>
          </p:nvPr>
        </p:nvSpPr>
        <p:spPr>
          <a:xfrm>
            <a:off x="6551295" y="1554480"/>
            <a:ext cx="4389120" cy="10058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6734175" y="1645920"/>
            <a:ext cx="4023360" cy="32004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00E676"/>
                </a:solidFill>
                <a:latin typeface="Segoe UI" panose="020B0502040204020203"/>
              </a:defRPr>
            </a:pPr>
            <a:r>
              <a:t>Controllers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6734175" y="1965960"/>
            <a:ext cx="4023360" cy="4603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200" b="1">
                <a:solidFill>
                  <a:schemeClr val="tx1"/>
                </a:solidFill>
              </a:rPr>
              <a:t>5 controllers handling map, analysis, export, subscriptions, and OAuth login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>
            <p:custDataLst>
              <p:tags r:id="rId5"/>
            </p:custDataLst>
          </p:nvPr>
        </p:nvSpPr>
        <p:spPr>
          <a:xfrm>
            <a:off x="6551295" y="2743200"/>
            <a:ext cx="4389120" cy="10058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6734175" y="2834640"/>
            <a:ext cx="4023360" cy="32004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8BDF8"/>
                </a:solidFill>
                <a:latin typeface="Segoe UI" panose="020B0502040204020203"/>
              </a:defRPr>
            </a:pPr>
            <a:r>
              <a:t>Models</a:t>
            </a:r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6734175" y="3154680"/>
            <a:ext cx="4023360" cy="4603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200" b="1">
                <a:solidFill>
                  <a:schemeClr val="tx1"/>
                </a:solidFill>
              </a:rPr>
              <a:t>4 entity models + DbContext with navigation properties and FK relationships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>
            <p:custDataLst>
              <p:tags r:id="rId8"/>
            </p:custDataLst>
          </p:nvPr>
        </p:nvSpPr>
        <p:spPr>
          <a:xfrm>
            <a:off x="6551295" y="3931920"/>
            <a:ext cx="4389120" cy="10058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6734175" y="4023360"/>
            <a:ext cx="4023360" cy="32004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FBBF24"/>
                </a:solidFill>
                <a:latin typeface="Segoe UI" panose="020B0502040204020203"/>
              </a:defRPr>
            </a:pPr>
            <a:r>
              <a:t>Services</a:t>
            </a:r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6734175" y="4343400"/>
            <a:ext cx="4023360" cy="4603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200" b="1">
                <a:solidFill>
                  <a:schemeClr val="tx1"/>
                </a:solidFill>
              </a:rPr>
              <a:t>6 services — API clients, recommendation engine, export, background worker, seeder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>
            <p:custDataLst>
              <p:tags r:id="rId11"/>
            </p:custDataLst>
          </p:nvPr>
        </p:nvSpPr>
        <p:spPr>
          <a:xfrm>
            <a:off x="6551295" y="5120640"/>
            <a:ext cx="4389120" cy="10058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6734175" y="5212080"/>
            <a:ext cx="4023360" cy="32004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F472B6"/>
                </a:solidFill>
                <a:latin typeface="Segoe UI" panose="020B0502040204020203"/>
              </a:defRPr>
            </a:pPr>
            <a:r>
              <a:t>Frontend</a:t>
            </a:r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6734175" y="5532120"/>
            <a:ext cx="4023360" cy="4603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200" b="1">
                <a:solidFill>
                  <a:schemeClr val="tx1"/>
                </a:solidFill>
              </a:rPr>
              <a:t>Leaflet.js (map), Chart.js (analytics), dark theme CSS, PWA with service worker</a:t>
            </a:r>
            <a:endParaRPr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Key Features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815340" y="16948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🗺️  Interactive India Map</a:t>
            </a:r>
          </a:p>
        </p:txBody>
      </p:sp>
      <p:sp>
        <p:nvSpPr>
          <p:cNvPr id="17" name="TextBox 5"/>
          <p:cNvSpPr txBox="1"/>
          <p:nvPr/>
        </p:nvSpPr>
        <p:spPr>
          <a:xfrm>
            <a:off x="815340" y="2197735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t>Leaflet.js map with color-coded markers for all 780+ districts. Click any marker to fetch live AQI + weather data.</a:t>
            </a:r>
          </a:p>
        </p:txBody>
      </p:sp>
      <p:sp>
        <p:nvSpPr>
          <p:cNvPr id="19" name="TextBox 7"/>
          <p:cNvSpPr txBox="1"/>
          <p:nvPr/>
        </p:nvSpPr>
        <p:spPr>
          <a:xfrm>
            <a:off x="4610100" y="16948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38BDF8"/>
                </a:solidFill>
                <a:latin typeface="Segoe UI" panose="020B0502040204020203"/>
              </a:defRPr>
            </a:pPr>
            <a:r>
              <a:t>📊  Multi-Chart Analytics</a:t>
            </a:r>
          </a:p>
        </p:txBody>
      </p:sp>
      <p:sp>
        <p:nvSpPr>
          <p:cNvPr id="20" name="TextBox 8"/>
          <p:cNvSpPr txBox="1"/>
          <p:nvPr/>
        </p:nvSpPr>
        <p:spPr>
          <a:xfrm>
            <a:off x="4610100" y="2197735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t>Line charts for AQI/temperature trends, doughnut chart for AQI category distribution, bar charts for pollutant breakdown.</a:t>
            </a:r>
          </a:p>
        </p:txBody>
      </p:sp>
      <p:sp>
        <p:nvSpPr>
          <p:cNvPr id="21" name="TextBox 10"/>
          <p:cNvSpPr txBox="1"/>
          <p:nvPr/>
        </p:nvSpPr>
        <p:spPr>
          <a:xfrm>
            <a:off x="8404860" y="16948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🏥  Health Recommendations</a:t>
            </a:r>
          </a:p>
        </p:txBody>
      </p:sp>
      <p:sp>
        <p:nvSpPr>
          <p:cNvPr id="22" name="TextBox 11"/>
          <p:cNvSpPr txBox="1"/>
          <p:nvPr/>
        </p:nvSpPr>
        <p:spPr>
          <a:xfrm>
            <a:off x="8404860" y="2197735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t>Health advisory engine using AQI levels + weather + heat index. Provides Do's/Don'ts and overall risk verdict.</a:t>
            </a:r>
          </a:p>
        </p:txBody>
      </p:sp>
      <p:sp>
        <p:nvSpPr>
          <p:cNvPr id="23" name="TextBox 13"/>
          <p:cNvSpPr txBox="1"/>
          <p:nvPr/>
        </p:nvSpPr>
        <p:spPr>
          <a:xfrm>
            <a:off x="815340" y="407225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FBBF24"/>
                </a:solidFill>
                <a:latin typeface="Segoe UI" panose="020B0502040204020203"/>
              </a:defRPr>
            </a:pPr>
            <a:r>
              <a:t>🔔  Alert Subscriptions</a:t>
            </a:r>
          </a:p>
        </p:txBody>
      </p:sp>
      <p:sp>
        <p:nvSpPr>
          <p:cNvPr id="24" name="TextBox 14"/>
          <p:cNvSpPr txBox="1"/>
          <p:nvPr/>
        </p:nvSpPr>
        <p:spPr>
          <a:xfrm>
            <a:off x="815340" y="4575175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t>Subscribe to districts with configurable AQI thresholds. Email-based alert system for pollution spikes.</a:t>
            </a:r>
          </a:p>
        </p:txBody>
      </p:sp>
      <p:sp>
        <p:nvSpPr>
          <p:cNvPr id="25" name="TextBox 16"/>
          <p:cNvSpPr txBox="1"/>
          <p:nvPr/>
        </p:nvSpPr>
        <p:spPr>
          <a:xfrm>
            <a:off x="4610100" y="407225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38BDF8"/>
                </a:solidFill>
                <a:latin typeface="Segoe UI" panose="020B0502040204020203"/>
              </a:defRPr>
            </a:pPr>
            <a:r>
              <a:t>📄  PDF &amp; CSV Export</a:t>
            </a:r>
          </a:p>
        </p:txBody>
      </p:sp>
      <p:sp>
        <p:nvSpPr>
          <p:cNvPr id="26" name="TextBox 17"/>
          <p:cNvSpPr txBox="1"/>
          <p:nvPr/>
        </p:nvSpPr>
        <p:spPr>
          <a:xfrm>
            <a:off x="4610100" y="4575175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t>Download detailed reports via QuestPDF (formatted A4 reports) or CSV (raw data). Includes weather + AQI tables.</a:t>
            </a:r>
          </a:p>
        </p:txBody>
      </p:sp>
      <p:sp>
        <p:nvSpPr>
          <p:cNvPr id="27" name="TextBox 19"/>
          <p:cNvSpPr txBox="1"/>
          <p:nvPr/>
        </p:nvSpPr>
        <p:spPr>
          <a:xfrm>
            <a:off x="8404860" y="407225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A78BFA"/>
                </a:solidFill>
                <a:latin typeface="Segoe UI" panose="020B0502040204020203"/>
              </a:defRPr>
            </a:pPr>
            <a:r>
              <a:t>🏙️  City Comparison</a:t>
            </a:r>
          </a:p>
        </p:txBody>
      </p:sp>
      <p:sp>
        <p:nvSpPr>
          <p:cNvPr id="28" name="TextBox 20"/>
          <p:cNvSpPr txBox="1"/>
          <p:nvPr/>
        </p:nvSpPr>
        <p:spPr>
          <a:xfrm>
            <a:off x="8404860" y="4575175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t>Compare up to 5 cities side-by-side — AQI, temperature, humidity, wind speed, and weather conditions.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5300" y="1420495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31" name="TextBox 4"/>
          <p:cNvSpPr txBox="1"/>
          <p:nvPr/>
        </p:nvSpPr>
        <p:spPr>
          <a:xfrm>
            <a:off x="723900" y="155765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🗺️  Interactive India Map</a:t>
            </a:r>
          </a:p>
        </p:txBody>
      </p:sp>
      <p:sp>
        <p:nvSpPr>
          <p:cNvPr id="32" name="TextBox 5"/>
          <p:cNvSpPr txBox="1"/>
          <p:nvPr/>
        </p:nvSpPr>
        <p:spPr>
          <a:xfrm>
            <a:off x="723900" y="2060575"/>
            <a:ext cx="320040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/>
              <a:t>Leaflet.js map with color-coded markers for all 780+ districts. Click any marker to fetch live AQI + weather data.</a:t>
            </a:r>
            <a:endParaRPr sz="1300" b="1"/>
          </a:p>
        </p:txBody>
      </p:sp>
      <p:sp>
        <p:nvSpPr>
          <p:cNvPr id="33" name="Rounded Rectangle 32"/>
          <p:cNvSpPr/>
          <p:nvPr/>
        </p:nvSpPr>
        <p:spPr>
          <a:xfrm>
            <a:off x="4290060" y="1420495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34" name="TextBox 7"/>
          <p:cNvSpPr txBox="1"/>
          <p:nvPr/>
        </p:nvSpPr>
        <p:spPr>
          <a:xfrm>
            <a:off x="4518660" y="155765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38BDF8"/>
                </a:solidFill>
                <a:latin typeface="Segoe UI" panose="020B0502040204020203"/>
              </a:defRPr>
            </a:pPr>
            <a:r>
              <a:t>📊  Multi-Chart Analytics</a:t>
            </a:r>
          </a:p>
        </p:txBody>
      </p:sp>
      <p:sp>
        <p:nvSpPr>
          <p:cNvPr id="35" name="TextBox 8"/>
          <p:cNvSpPr txBox="1"/>
          <p:nvPr/>
        </p:nvSpPr>
        <p:spPr>
          <a:xfrm>
            <a:off x="4518660" y="2060575"/>
            <a:ext cx="320040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/>
              <a:t>Line charts for AQI/temperature trends, doughnut chart for AQI category distribution, bar charts for pollutant breakdown.</a:t>
            </a:r>
            <a:endParaRPr sz="1300" b="1"/>
          </a:p>
        </p:txBody>
      </p:sp>
      <p:sp>
        <p:nvSpPr>
          <p:cNvPr id="36" name="Rounded Rectangle 35"/>
          <p:cNvSpPr/>
          <p:nvPr/>
        </p:nvSpPr>
        <p:spPr>
          <a:xfrm>
            <a:off x="8084820" y="1420495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37" name="TextBox 10"/>
          <p:cNvSpPr txBox="1"/>
          <p:nvPr/>
        </p:nvSpPr>
        <p:spPr>
          <a:xfrm>
            <a:off x="8313420" y="155765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🏥  Health Recommendations</a:t>
            </a:r>
          </a:p>
        </p:txBody>
      </p:sp>
      <p:sp>
        <p:nvSpPr>
          <p:cNvPr id="38" name="TextBox 11"/>
          <p:cNvSpPr txBox="1"/>
          <p:nvPr/>
        </p:nvSpPr>
        <p:spPr>
          <a:xfrm>
            <a:off x="8313420" y="2060575"/>
            <a:ext cx="320040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/>
              <a:t>Health advisory engine using AQI levels + weather + heat index. Provides Do's/Don'ts and overall risk verdict.</a:t>
            </a:r>
            <a:endParaRPr sz="1300" b="1"/>
          </a:p>
        </p:txBody>
      </p:sp>
      <p:sp>
        <p:nvSpPr>
          <p:cNvPr id="39" name="Rounded Rectangle 38"/>
          <p:cNvSpPr/>
          <p:nvPr/>
        </p:nvSpPr>
        <p:spPr>
          <a:xfrm>
            <a:off x="495300" y="3797935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0" name="TextBox 13"/>
          <p:cNvSpPr txBox="1"/>
          <p:nvPr/>
        </p:nvSpPr>
        <p:spPr>
          <a:xfrm>
            <a:off x="723900" y="393509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FBBF24"/>
                </a:solidFill>
                <a:latin typeface="Segoe UI" panose="020B0502040204020203"/>
              </a:defRPr>
            </a:pPr>
            <a:r>
              <a:t>🔔  Alert Subscriptions</a:t>
            </a:r>
          </a:p>
        </p:txBody>
      </p:sp>
      <p:sp>
        <p:nvSpPr>
          <p:cNvPr id="41" name="TextBox 14"/>
          <p:cNvSpPr txBox="1"/>
          <p:nvPr/>
        </p:nvSpPr>
        <p:spPr>
          <a:xfrm>
            <a:off x="723900" y="4438015"/>
            <a:ext cx="32004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/>
              <a:t>Subscribe to districts with configurable AQI thresholds. Email-based alert system for pollution spikes.</a:t>
            </a:r>
            <a:endParaRPr sz="1300" b="1"/>
          </a:p>
        </p:txBody>
      </p:sp>
      <p:sp>
        <p:nvSpPr>
          <p:cNvPr id="42" name="Rounded Rectangle 41"/>
          <p:cNvSpPr/>
          <p:nvPr/>
        </p:nvSpPr>
        <p:spPr>
          <a:xfrm>
            <a:off x="4290060" y="3797935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3" name="TextBox 16"/>
          <p:cNvSpPr txBox="1"/>
          <p:nvPr/>
        </p:nvSpPr>
        <p:spPr>
          <a:xfrm>
            <a:off x="4518660" y="393509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38BDF8"/>
                </a:solidFill>
                <a:latin typeface="Segoe UI" panose="020B0502040204020203"/>
              </a:defRPr>
            </a:pPr>
            <a:r>
              <a:t>📄  PDF &amp; CSV Export</a:t>
            </a:r>
          </a:p>
        </p:txBody>
      </p:sp>
      <p:sp>
        <p:nvSpPr>
          <p:cNvPr id="44" name="TextBox 17"/>
          <p:cNvSpPr txBox="1"/>
          <p:nvPr/>
        </p:nvSpPr>
        <p:spPr>
          <a:xfrm>
            <a:off x="4518660" y="4438015"/>
            <a:ext cx="320040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/>
              <a:t>Download detailed reports via QuestPDF (formatted A4 reports) or CSV (raw data). Includes weather + AQI tables.</a:t>
            </a:r>
            <a:endParaRPr sz="1300" b="1"/>
          </a:p>
        </p:txBody>
      </p:sp>
      <p:sp>
        <p:nvSpPr>
          <p:cNvPr id="45" name="Rounded Rectangle 44"/>
          <p:cNvSpPr/>
          <p:nvPr/>
        </p:nvSpPr>
        <p:spPr>
          <a:xfrm>
            <a:off x="8084820" y="3797935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6" name="TextBox 19"/>
          <p:cNvSpPr txBox="1"/>
          <p:nvPr/>
        </p:nvSpPr>
        <p:spPr>
          <a:xfrm>
            <a:off x="8313420" y="393509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A78BFA"/>
                </a:solidFill>
                <a:latin typeface="Segoe UI" panose="020B0502040204020203"/>
              </a:defRPr>
            </a:pPr>
            <a:r>
              <a:t>🏙️  City Comparison</a:t>
            </a:r>
          </a:p>
        </p:txBody>
      </p:sp>
      <p:sp>
        <p:nvSpPr>
          <p:cNvPr id="47" name="TextBox 20"/>
          <p:cNvSpPr txBox="1"/>
          <p:nvPr/>
        </p:nvSpPr>
        <p:spPr>
          <a:xfrm>
            <a:off x="8313420" y="4438015"/>
            <a:ext cx="32004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/>
              <a:t>Compare up to </a:t>
            </a:r>
            <a:r>
              <a:rPr lang="en-US" sz="1300" b="1"/>
              <a:t>10</a:t>
            </a:r>
            <a:r>
              <a:rPr sz="1300" b="1"/>
              <a:t> cities side-by-side — AQI, temperature, humidity, wind speed, and weather conditions.</a:t>
            </a:r>
            <a:endParaRPr sz="13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729355" y="1635125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8" name="TextBox 4"/>
          <p:cNvSpPr txBox="1"/>
          <p:nvPr/>
        </p:nvSpPr>
        <p:spPr>
          <a:xfrm>
            <a:off x="3957955" y="177228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🧮  Indian NAQI Calculation</a:t>
            </a:r>
          </a:p>
        </p:txBody>
      </p:sp>
      <p:sp>
        <p:nvSpPr>
          <p:cNvPr id="49" name="TextBox 5"/>
          <p:cNvSpPr txBox="1"/>
          <p:nvPr/>
        </p:nvSpPr>
        <p:spPr>
          <a:xfrm>
            <a:off x="3957955" y="2275205"/>
            <a:ext cx="320040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/>
              <a:t>Uses CPCB breakpoint tables for all 6 pollutants (PM2.5, PM10, O3, NO2, SO2, CO). Identifies dominant pollutant automatically.</a:t>
            </a:r>
            <a:endParaRPr sz="1300" b="1"/>
          </a:p>
        </p:txBody>
      </p:sp>
      <p:sp>
        <p:nvSpPr>
          <p:cNvPr id="50" name="Rounded Rectangle 49"/>
          <p:cNvSpPr/>
          <p:nvPr/>
        </p:nvSpPr>
        <p:spPr>
          <a:xfrm>
            <a:off x="7524115" y="1635125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1" name="TextBox 7"/>
          <p:cNvSpPr txBox="1"/>
          <p:nvPr/>
        </p:nvSpPr>
        <p:spPr>
          <a:xfrm>
            <a:off x="7752715" y="177228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EF4444"/>
                </a:solidFill>
                <a:latin typeface="Segoe UI" panose="020B0502040204020203"/>
              </a:defRPr>
            </a:pPr>
            <a:r>
              <a:t>🌡️  Heat Index Engine</a:t>
            </a:r>
          </a:p>
        </p:txBody>
      </p:sp>
      <p:sp>
        <p:nvSpPr>
          <p:cNvPr id="52" name="TextBox 8"/>
          <p:cNvSpPr txBox="1"/>
          <p:nvPr/>
        </p:nvSpPr>
        <p:spPr>
          <a:xfrm>
            <a:off x="7752715" y="2275205"/>
            <a:ext cx="320040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/>
              <a:t>Implements Steadman's Rothfusz regression formula to calculate heat index from temperature and humidity — critical for tropical India.</a:t>
            </a:r>
            <a:endParaRPr sz="1300" b="1"/>
          </a:p>
        </p:txBody>
      </p:sp>
      <p:sp>
        <p:nvSpPr>
          <p:cNvPr id="53" name="Rounded Rectangle 52"/>
          <p:cNvSpPr/>
          <p:nvPr/>
        </p:nvSpPr>
        <p:spPr>
          <a:xfrm>
            <a:off x="3729355" y="4012565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4" name="TextBox 13"/>
          <p:cNvSpPr txBox="1"/>
          <p:nvPr/>
        </p:nvSpPr>
        <p:spPr>
          <a:xfrm>
            <a:off x="3957955" y="4149725"/>
            <a:ext cx="3200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FBBF24"/>
                </a:solidFill>
                <a:latin typeface="Segoe UI" panose="020B0502040204020203"/>
              </a:defRPr>
            </a:pPr>
            <a:r>
              <a:t>🔐  </a:t>
            </a:r>
            <a:r>
              <a:rPr lang="en-US"/>
              <a:t>GitHub &amp; Google </a:t>
            </a:r>
            <a:r>
              <a:t>OAuth Login</a:t>
            </a:r>
          </a:p>
        </p:txBody>
      </p:sp>
      <p:sp>
        <p:nvSpPr>
          <p:cNvPr id="55" name="TextBox 14"/>
          <p:cNvSpPr txBox="1"/>
          <p:nvPr/>
        </p:nvSpPr>
        <p:spPr>
          <a:xfrm>
            <a:off x="3957955" y="4802505"/>
            <a:ext cx="320040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lang="en-US" altLang="en-US" sz="1300" b="1"/>
              <a:t>Social login via Google &amp; GitHub OAuth 2.0 for secure authentication. Report exports are restricted to logged-in users for accountability.</a:t>
            </a:r>
            <a:endParaRPr lang="en-US" altLang="en-US" sz="1300" b="1"/>
          </a:p>
        </p:txBody>
      </p:sp>
      <p:sp>
        <p:nvSpPr>
          <p:cNvPr id="56" name="Rounded Rectangle 55"/>
          <p:cNvSpPr/>
          <p:nvPr/>
        </p:nvSpPr>
        <p:spPr>
          <a:xfrm>
            <a:off x="7524115" y="4012565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7" name="TextBox 16"/>
          <p:cNvSpPr txBox="1"/>
          <p:nvPr/>
        </p:nvSpPr>
        <p:spPr>
          <a:xfrm>
            <a:off x="7752715" y="414972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A78BFA"/>
                </a:solidFill>
                <a:latin typeface="Segoe UI" panose="020B0502040204020203"/>
              </a:defRPr>
            </a:pPr>
            <a:r>
              <a:t>⚡  Background Data Service</a:t>
            </a:r>
          </a:p>
        </p:txBody>
      </p:sp>
      <p:sp>
        <p:nvSpPr>
          <p:cNvPr id="58" name="TextBox 17"/>
          <p:cNvSpPr txBox="1"/>
          <p:nvPr/>
        </p:nvSpPr>
        <p:spPr>
          <a:xfrm>
            <a:off x="7752715" y="4652645"/>
            <a:ext cx="320040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/>
              <a:t>Hosted BackgroundService captures weather snapshots for all districts every 60 min in batches of 50, respecting API rate limits.</a:t>
            </a:r>
            <a:endParaRPr sz="1300" b="1"/>
          </a:p>
        </p:txBody>
      </p:sp>
      <p:pic>
        <p:nvPicPr>
          <p:cNvPr id="60" name="Picture 59" descr="image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9790" y="1036955"/>
            <a:ext cx="549592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How Project Works	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4" name="Rounded Rectangle 3"/>
          <p:cNvSpPr/>
          <p:nvPr>
            <p:custDataLst>
              <p:tags r:id="rId2"/>
            </p:custDataLst>
          </p:nvPr>
        </p:nvSpPr>
        <p:spPr>
          <a:xfrm>
            <a:off x="655321" y="134874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838201" y="144018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 b="1">
                <a:solidFill>
                  <a:srgbClr val="00E676"/>
                </a:solidFill>
                <a:latin typeface="Segoe UI" panose="020B0502040204020203"/>
              </a:defRPr>
            </a:pPr>
            <a:r>
              <a:rPr lang="en-US" dirty="0"/>
              <a:t>1</a:t>
            </a:r>
            <a:endParaRPr dirty="0"/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295401" y="14401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Application Startup</a:t>
            </a: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1295401" y="1805940"/>
            <a:ext cx="43891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200" b="1"/>
              <a:t>EF Core auto-migrates the database. DistrictSeederService loads 780+ Indian districts from JSON file. Background snapshot service starts.</a:t>
            </a:r>
            <a:endParaRPr sz="1200" b="1"/>
          </a:p>
        </p:txBody>
      </p:sp>
      <p:sp>
        <p:nvSpPr>
          <p:cNvPr id="8" name="Rounded Rectangle 7"/>
          <p:cNvSpPr/>
          <p:nvPr>
            <p:custDataLst>
              <p:tags r:id="rId6"/>
            </p:custDataLst>
          </p:nvPr>
        </p:nvSpPr>
        <p:spPr>
          <a:xfrm>
            <a:off x="6233160" y="134874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7"/>
            </p:custDataLst>
          </p:nvPr>
        </p:nvSpPr>
        <p:spPr>
          <a:xfrm>
            <a:off x="6416040" y="144018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 b="1">
                <a:solidFill>
                  <a:srgbClr val="38BDF8"/>
                </a:solidFill>
                <a:latin typeface="Segoe UI" panose="020B0502040204020203"/>
              </a:defRPr>
            </a:pPr>
            <a:r>
              <a:rPr dirty="0"/>
              <a:t>2</a:t>
            </a:r>
            <a:endParaRPr dirty="0"/>
          </a:p>
        </p:txBody>
      </p:sp>
      <p:sp>
        <p:nvSpPr>
          <p:cNvPr id="10" name="TextBox 9"/>
          <p:cNvSpPr txBox="1"/>
          <p:nvPr>
            <p:custDataLst>
              <p:tags r:id="rId8"/>
            </p:custDataLst>
          </p:nvPr>
        </p:nvSpPr>
        <p:spPr>
          <a:xfrm>
            <a:off x="6873240" y="14401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User Opens Map Page</a:t>
            </a:r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6873240" y="1805940"/>
            <a:ext cx="43891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200" b="1"/>
              <a:t>Leaflet.js loads the India map with markers for all districts. Markers are color-coded by metro/non-metro status. /api/districts endpoint provides district data.</a:t>
            </a:r>
            <a:endParaRPr sz="1200" b="1"/>
          </a:p>
        </p:txBody>
      </p:sp>
      <p:sp>
        <p:nvSpPr>
          <p:cNvPr id="2" name="Rounded Rectangle 1"/>
          <p:cNvSpPr/>
          <p:nvPr>
            <p:custDataLst>
              <p:tags r:id="rId10"/>
            </p:custDataLst>
          </p:nvPr>
        </p:nvSpPr>
        <p:spPr>
          <a:xfrm>
            <a:off x="655321" y="285750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11"/>
            </p:custDataLst>
          </p:nvPr>
        </p:nvSpPr>
        <p:spPr>
          <a:xfrm>
            <a:off x="838201" y="294894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 b="1">
                <a:solidFill>
                  <a:srgbClr val="FBBF24"/>
                </a:solidFill>
                <a:latin typeface="Segoe UI" panose="020B0502040204020203"/>
              </a:defRPr>
            </a:pPr>
            <a:r>
              <a:rPr dirty="0"/>
              <a:t>3</a:t>
            </a:r>
            <a:endParaRPr dirty="0"/>
          </a:p>
        </p:txBody>
      </p:sp>
      <p:sp>
        <p:nvSpPr>
          <p:cNvPr id="14" name="TextBox 13"/>
          <p:cNvSpPr txBox="1"/>
          <p:nvPr>
            <p:custDataLst>
              <p:tags r:id="rId12"/>
            </p:custDataLst>
          </p:nvPr>
        </p:nvSpPr>
        <p:spPr>
          <a:xfrm>
            <a:off x="1295401" y="29489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User Clicks a District</a:t>
            </a:r>
          </a:p>
        </p:txBody>
      </p:sp>
      <p:sp>
        <p:nvSpPr>
          <p:cNvPr id="15" name="TextBox 14"/>
          <p:cNvSpPr txBox="1"/>
          <p:nvPr>
            <p:custDataLst>
              <p:tags r:id="rId13"/>
            </p:custDataLst>
          </p:nvPr>
        </p:nvSpPr>
        <p:spPr>
          <a:xfrm>
            <a:off x="1295401" y="3314700"/>
            <a:ext cx="43891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200" b="1"/>
              <a:t>AJAX call to /api/district/{id}/live fetches live data from OpenWeatherMap APIs. AQIService calculates Indian NAQI. RecommendationService generates health advisory.</a:t>
            </a:r>
            <a:endParaRPr sz="1200" b="1"/>
          </a:p>
        </p:txBody>
      </p:sp>
      <p:sp>
        <p:nvSpPr>
          <p:cNvPr id="16" name="Rounded Rectangle 15"/>
          <p:cNvSpPr/>
          <p:nvPr>
            <p:custDataLst>
              <p:tags r:id="rId14"/>
            </p:custDataLst>
          </p:nvPr>
        </p:nvSpPr>
        <p:spPr>
          <a:xfrm>
            <a:off x="6233160" y="285750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5"/>
            </p:custDataLst>
          </p:nvPr>
        </p:nvSpPr>
        <p:spPr>
          <a:xfrm>
            <a:off x="6416040" y="294894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 b="1">
                <a:solidFill>
                  <a:srgbClr val="A78BFA"/>
                </a:solidFill>
                <a:latin typeface="Segoe UI" panose="020B0502040204020203"/>
              </a:defRPr>
            </a:pPr>
            <a:r>
              <a:rPr dirty="0"/>
              <a:t>4</a:t>
            </a:r>
            <a:endParaRPr dirty="0"/>
          </a:p>
        </p:txBody>
      </p:sp>
      <p:sp>
        <p:nvSpPr>
          <p:cNvPr id="18" name="TextBox 17"/>
          <p:cNvSpPr txBox="1"/>
          <p:nvPr>
            <p:custDataLst>
              <p:tags r:id="rId16"/>
            </p:custDataLst>
          </p:nvPr>
        </p:nvSpPr>
        <p:spPr>
          <a:xfrm>
            <a:off x="6873240" y="29489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Analysis &amp; Trends</a:t>
            </a:r>
          </a:p>
        </p:txBody>
      </p:sp>
      <p:sp>
        <p:nvSpPr>
          <p:cNvPr id="19" name="TextBox 18"/>
          <p:cNvSpPr txBox="1"/>
          <p:nvPr>
            <p:custDataLst>
              <p:tags r:id="rId17"/>
            </p:custDataLst>
          </p:nvPr>
        </p:nvSpPr>
        <p:spPr>
          <a:xfrm>
            <a:off x="6873240" y="3314700"/>
            <a:ext cx="43891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200" b="1"/>
              <a:t>User navigates to Analysis page. Chart.js renders AQI trends, pollutant breakdowns, and weather patterns using data from /api/analysis/* endpoints.</a:t>
            </a:r>
            <a:endParaRPr sz="1200" b="1"/>
          </a:p>
        </p:txBody>
      </p:sp>
      <p:sp>
        <p:nvSpPr>
          <p:cNvPr id="20" name="Rounded Rectangle 19"/>
          <p:cNvSpPr/>
          <p:nvPr>
            <p:custDataLst>
              <p:tags r:id="rId18"/>
            </p:custDataLst>
          </p:nvPr>
        </p:nvSpPr>
        <p:spPr>
          <a:xfrm>
            <a:off x="655321" y="436626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9"/>
            </p:custDataLst>
          </p:nvPr>
        </p:nvSpPr>
        <p:spPr>
          <a:xfrm>
            <a:off x="838201" y="445770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 b="1">
                <a:solidFill>
                  <a:srgbClr val="EF4444"/>
                </a:solidFill>
                <a:latin typeface="Segoe UI" panose="020B0502040204020203"/>
              </a:defRPr>
            </a:pPr>
            <a:r>
              <a:rPr dirty="0"/>
              <a:t>5</a:t>
            </a:r>
            <a:endParaRPr dirty="0"/>
          </a:p>
        </p:txBody>
      </p:sp>
      <p:sp>
        <p:nvSpPr>
          <p:cNvPr id="22" name="TextBox 21"/>
          <p:cNvSpPr txBox="1"/>
          <p:nvPr>
            <p:custDataLst>
              <p:tags r:id="rId20"/>
            </p:custDataLst>
          </p:nvPr>
        </p:nvSpPr>
        <p:spPr>
          <a:xfrm>
            <a:off x="1295401" y="44577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Background Snapshots</a:t>
            </a:r>
          </a:p>
        </p:txBody>
      </p:sp>
      <p:sp>
        <p:nvSpPr>
          <p:cNvPr id="23" name="TextBox 22"/>
          <p:cNvSpPr txBox="1"/>
          <p:nvPr>
            <p:custDataLst>
              <p:tags r:id="rId21"/>
            </p:custDataLst>
          </p:nvPr>
        </p:nvSpPr>
        <p:spPr>
          <a:xfrm>
            <a:off x="1295401" y="4823460"/>
            <a:ext cx="43891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200" b="1"/>
              <a:t>DataSnapshotService runs every 60 min. Captures weather data for all districts in batches of 50 with 500ms delays between calls (respects API rate limits of 60 calls/min).</a:t>
            </a:r>
            <a:endParaRPr sz="1200" b="1"/>
          </a:p>
        </p:txBody>
      </p:sp>
      <p:sp>
        <p:nvSpPr>
          <p:cNvPr id="24" name="Rounded Rectangle 23"/>
          <p:cNvSpPr/>
          <p:nvPr>
            <p:custDataLst>
              <p:tags r:id="rId22"/>
            </p:custDataLst>
          </p:nvPr>
        </p:nvSpPr>
        <p:spPr>
          <a:xfrm>
            <a:off x="6233160" y="436626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23"/>
            </p:custDataLst>
          </p:nvPr>
        </p:nvSpPr>
        <p:spPr>
          <a:xfrm>
            <a:off x="6416040" y="445770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 b="1">
                <a:solidFill>
                  <a:srgbClr val="F472B6"/>
                </a:solidFill>
                <a:latin typeface="Segoe UI" panose="020B0502040204020203"/>
              </a:defRPr>
            </a:pPr>
            <a:r>
              <a:rPr dirty="0"/>
              <a:t>6</a:t>
            </a:r>
            <a:endParaRPr dirty="0"/>
          </a:p>
        </p:txBody>
      </p:sp>
      <p:sp>
        <p:nvSpPr>
          <p:cNvPr id="26" name="TextBox 25"/>
          <p:cNvSpPr txBox="1"/>
          <p:nvPr>
            <p:custDataLst>
              <p:tags r:id="rId24"/>
            </p:custDataLst>
          </p:nvPr>
        </p:nvSpPr>
        <p:spPr>
          <a:xfrm>
            <a:off x="6873240" y="44577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Export &amp; Alerts</a:t>
            </a:r>
          </a:p>
        </p:txBody>
      </p:sp>
      <p:sp>
        <p:nvSpPr>
          <p:cNvPr id="27" name="TextBox 26"/>
          <p:cNvSpPr txBox="1"/>
          <p:nvPr>
            <p:custDataLst>
              <p:tags r:id="rId25"/>
            </p:custDataLst>
          </p:nvPr>
        </p:nvSpPr>
        <p:spPr>
          <a:xfrm>
            <a:off x="6873240" y="4823460"/>
            <a:ext cx="43891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200" b="1"/>
              <a:t>Users can export PDF/CSV reports for any district. Subscribe to district alerts with custom AQI thresholds. Login via Google OAuth required for exports.</a:t>
            </a:r>
            <a:endParaRPr sz="12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Database Design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35280" y="128016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2" name="TextBox 4"/>
          <p:cNvSpPr txBox="1"/>
          <p:nvPr/>
        </p:nvSpPr>
        <p:spPr>
          <a:xfrm>
            <a:off x="51816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Districts</a:t>
            </a:r>
          </a:p>
        </p:txBody>
      </p:sp>
      <p:sp>
        <p:nvSpPr>
          <p:cNvPr id="28" name="TextBox 5"/>
          <p:cNvSpPr txBox="1"/>
          <p:nvPr/>
        </p:nvSpPr>
        <p:spPr>
          <a:xfrm>
            <a:off x="518160" y="173736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rPr b="1">
                <a:solidFill>
                  <a:schemeClr val="bg1"/>
                </a:solidFill>
              </a:rPr>
              <a:t>Core entity — 780+ Indian districts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30" name="Rectangle 6"/>
          <p:cNvSpPr/>
          <p:nvPr/>
        </p:nvSpPr>
        <p:spPr>
          <a:xfrm>
            <a:off x="518160" y="2103120"/>
            <a:ext cx="1097280" cy="127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31" name="TextBox 7"/>
          <p:cNvSpPr txBox="1"/>
          <p:nvPr/>
        </p:nvSpPr>
        <p:spPr>
          <a:xfrm>
            <a:off x="518160" y="228600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Id (PK), Name, State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32" name="TextBox 8"/>
          <p:cNvSpPr txBox="1"/>
          <p:nvPr/>
        </p:nvSpPr>
        <p:spPr>
          <a:xfrm>
            <a:off x="518160" y="269748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Latitude, Longitude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33" name="TextBox 9"/>
          <p:cNvSpPr txBox="1"/>
          <p:nvPr/>
        </p:nvSpPr>
        <p:spPr>
          <a:xfrm>
            <a:off x="518160" y="310896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IsMetroCity (bool)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34" name="TextBox 10"/>
          <p:cNvSpPr txBox="1"/>
          <p:nvPr/>
        </p:nvSpPr>
        <p:spPr>
          <a:xfrm>
            <a:off x="518160" y="3520440"/>
            <a:ext cx="2377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→ WeatherSnapshots, AQISnapshots, Subscriptions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261360" y="128016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36" name="TextBox 12"/>
          <p:cNvSpPr txBox="1"/>
          <p:nvPr/>
        </p:nvSpPr>
        <p:spPr>
          <a:xfrm>
            <a:off x="344424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38BDF8"/>
                </a:solidFill>
                <a:latin typeface="Segoe UI" panose="020B0502040204020203"/>
              </a:defRPr>
            </a:pPr>
            <a:r>
              <a:t>WeatherSnapshots</a:t>
            </a:r>
          </a:p>
        </p:txBody>
      </p:sp>
      <p:sp>
        <p:nvSpPr>
          <p:cNvPr id="37" name="TextBox 13"/>
          <p:cNvSpPr txBox="1"/>
          <p:nvPr/>
        </p:nvSpPr>
        <p:spPr>
          <a:xfrm>
            <a:off x="3444240" y="173736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rPr b="1">
                <a:solidFill>
                  <a:schemeClr val="bg1"/>
                </a:solidFill>
              </a:rPr>
              <a:t>Periodic weather recordings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38" name="Rectangle 14"/>
          <p:cNvSpPr/>
          <p:nvPr/>
        </p:nvSpPr>
        <p:spPr>
          <a:xfrm>
            <a:off x="3444240" y="2103120"/>
            <a:ext cx="109728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39" name="TextBox 15"/>
          <p:cNvSpPr txBox="1"/>
          <p:nvPr/>
        </p:nvSpPr>
        <p:spPr>
          <a:xfrm>
            <a:off x="3444240" y="228600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Id (PK), DistrictId (FK)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40" name="TextBox 16"/>
          <p:cNvSpPr txBox="1"/>
          <p:nvPr/>
        </p:nvSpPr>
        <p:spPr>
          <a:xfrm>
            <a:off x="3444240" y="269748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Temperature, FeelsLike, Humidity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41" name="TextBox 17"/>
          <p:cNvSpPr txBox="1"/>
          <p:nvPr/>
        </p:nvSpPr>
        <p:spPr>
          <a:xfrm>
            <a:off x="3444240" y="310896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Pressure, WindSpeed, Visibility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42" name="TextBox 18"/>
          <p:cNvSpPr txBox="1"/>
          <p:nvPr/>
        </p:nvSpPr>
        <p:spPr>
          <a:xfrm>
            <a:off x="3444240" y="352044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CloudCover, WeatherCondition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43" name="TextBox 19"/>
          <p:cNvSpPr txBox="1"/>
          <p:nvPr/>
        </p:nvSpPr>
        <p:spPr>
          <a:xfrm>
            <a:off x="3444240" y="393192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Sunrise, Sunset, RecordedAt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87440" y="128016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5" name="TextBox 21"/>
          <p:cNvSpPr txBox="1"/>
          <p:nvPr/>
        </p:nvSpPr>
        <p:spPr>
          <a:xfrm>
            <a:off x="637032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FBBF24"/>
                </a:solidFill>
                <a:latin typeface="Segoe UI" panose="020B0502040204020203"/>
              </a:defRPr>
            </a:pPr>
            <a:r>
              <a:t>AQISnapshots</a:t>
            </a:r>
          </a:p>
        </p:txBody>
      </p:sp>
      <p:sp>
        <p:nvSpPr>
          <p:cNvPr id="46" name="TextBox 22"/>
          <p:cNvSpPr txBox="1"/>
          <p:nvPr/>
        </p:nvSpPr>
        <p:spPr>
          <a:xfrm>
            <a:off x="6370320" y="173736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rPr b="1">
                <a:solidFill>
                  <a:schemeClr val="bg1"/>
                </a:solidFill>
              </a:rPr>
              <a:t>Air quality with 6 pollutants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47" name="Rectangle 23"/>
          <p:cNvSpPr/>
          <p:nvPr/>
        </p:nvSpPr>
        <p:spPr>
          <a:xfrm>
            <a:off x="6370320" y="2103120"/>
            <a:ext cx="1097280" cy="127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48" name="TextBox 24"/>
          <p:cNvSpPr txBox="1"/>
          <p:nvPr/>
        </p:nvSpPr>
        <p:spPr>
          <a:xfrm>
            <a:off x="6370320" y="228600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Id (PK), DistrictId (FK)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49" name="TextBox 25"/>
          <p:cNvSpPr txBox="1"/>
          <p:nvPr/>
        </p:nvSpPr>
        <p:spPr>
          <a:xfrm>
            <a:off x="6370320" y="269748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AQI (0-500), Category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50" name="TextBox 26"/>
          <p:cNvSpPr txBox="1"/>
          <p:nvPr/>
        </p:nvSpPr>
        <p:spPr>
          <a:xfrm>
            <a:off x="6370320" y="310896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PM25, PM10, O3, NO2, SO2, CO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51" name="TextBox 27"/>
          <p:cNvSpPr txBox="1"/>
          <p:nvPr/>
        </p:nvSpPr>
        <p:spPr>
          <a:xfrm>
            <a:off x="6370320" y="352044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DominantPollutant, RecordedAt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113520" y="128016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3" name="TextBox 29"/>
          <p:cNvSpPr txBox="1"/>
          <p:nvPr/>
        </p:nvSpPr>
        <p:spPr>
          <a:xfrm>
            <a:off x="929640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A78BFA"/>
                </a:solidFill>
                <a:latin typeface="Segoe UI" panose="020B0502040204020203"/>
              </a:defRPr>
            </a:pPr>
            <a:r>
              <a:t>UserSubscriptions</a:t>
            </a:r>
          </a:p>
        </p:txBody>
      </p:sp>
      <p:sp>
        <p:nvSpPr>
          <p:cNvPr id="54" name="TextBox 30"/>
          <p:cNvSpPr txBox="1"/>
          <p:nvPr/>
        </p:nvSpPr>
        <p:spPr>
          <a:xfrm>
            <a:off x="9296400" y="173736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rPr b="1">
                <a:solidFill>
                  <a:schemeClr val="bg1"/>
                </a:solidFill>
              </a:rPr>
              <a:t>Alert subscription preferences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55" name="Rectangle 31"/>
          <p:cNvSpPr/>
          <p:nvPr/>
        </p:nvSpPr>
        <p:spPr>
          <a:xfrm>
            <a:off x="9296400" y="2103120"/>
            <a:ext cx="109728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6" name="TextBox 32"/>
          <p:cNvSpPr txBox="1"/>
          <p:nvPr/>
        </p:nvSpPr>
        <p:spPr>
          <a:xfrm>
            <a:off x="9296400" y="228600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Id (PK), Email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57" name="TextBox 33"/>
          <p:cNvSpPr txBox="1"/>
          <p:nvPr/>
        </p:nvSpPr>
        <p:spPr>
          <a:xfrm>
            <a:off x="9296400" y="269748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DistrictId (FK)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58" name="TextBox 34"/>
          <p:cNvSpPr txBox="1"/>
          <p:nvPr/>
        </p:nvSpPr>
        <p:spPr>
          <a:xfrm>
            <a:off x="9296400" y="310896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AQIThreshold (default: 200)</a:t>
            </a:r>
            <a:endParaRPr b="1">
              <a:solidFill>
                <a:srgbClr val="DADADA"/>
              </a:solidFill>
            </a:endParaRPr>
          </a:p>
        </p:txBody>
      </p:sp>
      <p:sp>
        <p:nvSpPr>
          <p:cNvPr id="59" name="TextBox 35"/>
          <p:cNvSpPr txBox="1"/>
          <p:nvPr/>
        </p:nvSpPr>
        <p:spPr>
          <a:xfrm>
            <a:off x="9296400" y="3520440"/>
            <a:ext cx="237744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94A3B8"/>
                </a:solidFill>
                <a:latin typeface="Segoe UI" panose="020B0502040204020203"/>
              </a:defRPr>
            </a:pPr>
            <a:r>
              <a:rPr b="1">
                <a:solidFill>
                  <a:srgbClr val="DADADA"/>
                </a:solidFill>
              </a:rPr>
              <a:t>• IsActive, CreatedAt</a:t>
            </a:r>
            <a:endParaRPr b="1">
              <a:solidFill>
                <a:srgbClr val="DADAD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Challenges Faced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5321" y="201168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9641" y="2103120"/>
            <a:ext cx="3657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EF4444"/>
                </a:solidFill>
                <a:latin typeface="Segoe UI" panose="020B0502040204020203"/>
              </a:defRPr>
            </a:pPr>
            <a:r>
              <a:t>⏱</a:t>
            </a:r>
            <a:r>
              <a:rPr lang="en-US"/>
              <a:t>    </a:t>
            </a:r>
            <a:r>
              <a:t>API Rate Limiting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1" y="2423160"/>
            <a:ext cx="475488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>
                <a:solidFill>
                  <a:schemeClr val="bg1">
                    <a:lumMod val="95000"/>
                  </a:schemeClr>
                </a:solidFill>
              </a:rPr>
              <a:t>OpenWeatherMap free tier allows only 60 calls/min. Solved by implementing batched processing (50 districts/batch) with 500ms delays between calls.</a:t>
            </a:r>
            <a:endParaRPr sz="1300" b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81401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000" b="0">
                <a:solidFill>
                  <a:srgbClr val="00E676"/>
                </a:solidFill>
                <a:latin typeface="Segoe UI" panose="020B0502040204020203"/>
              </a:defRPr>
            </a:pPr>
            <a:r>
              <a:t>✅ Batch Processing + Throttling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160" y="201168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480" y="2103120"/>
            <a:ext cx="3657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EF4444"/>
                </a:solidFill>
                <a:latin typeface="Segoe UI" panose="020B0502040204020203"/>
              </a:defRPr>
            </a:pPr>
            <a:r>
              <a:t>📊  </a:t>
            </a:r>
            <a:r>
              <a:rPr lang="en-US"/>
              <a:t>   </a:t>
            </a:r>
            <a:r>
              <a:t>Indian NAQI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480" y="2423160"/>
            <a:ext cx="475488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>
                <a:solidFill>
                  <a:schemeClr val="bg1">
                    <a:lumMod val="95000"/>
                  </a:schemeClr>
                </a:solidFill>
              </a:rPr>
              <a:t>No ready-made library for Indian AQI. Had to manually implement CPCB breakpoint tables for all 6 pollutants with sub-index interpolation formula.</a:t>
            </a:r>
            <a:endParaRPr sz="1300" b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59240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000" b="0">
                <a:solidFill>
                  <a:srgbClr val="00E676"/>
                </a:solidFill>
                <a:latin typeface="Segoe UI" panose="020B0502040204020203"/>
              </a:defRPr>
            </a:pPr>
            <a:r>
              <a:t>✅ Custom CPCB Implementation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655321" y="352044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641" y="3611880"/>
            <a:ext cx="3657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EF4444"/>
                </a:solidFill>
                <a:latin typeface="Segoe UI" panose="020B0502040204020203"/>
              </a:defRPr>
            </a:pPr>
            <a:r>
              <a:t>🗺</a:t>
            </a:r>
            <a:r>
              <a:rPr lang="en-US"/>
              <a:t>     </a:t>
            </a:r>
            <a:r>
              <a:t>780+ District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641" y="3931920"/>
            <a:ext cx="475488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>
                <a:solidFill>
                  <a:schemeClr val="bg1">
                    <a:lumMod val="95000"/>
                  </a:schemeClr>
                </a:solidFill>
              </a:rPr>
              <a:t>Sourcing accurate lat/lon data for every Indian district. Created a Python script (generate_districts.py) to compile and validate the complete dataset.</a:t>
            </a:r>
            <a:endParaRPr sz="1300" b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81401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000" b="0">
                <a:solidFill>
                  <a:srgbClr val="00E676"/>
                </a:solidFill>
                <a:latin typeface="Segoe UI" panose="020B0502040204020203"/>
              </a:defRPr>
            </a:pPr>
            <a:r>
              <a:t>✅ Python JSON Generator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352044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480" y="3611880"/>
            <a:ext cx="3657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EF4444"/>
                </a:solidFill>
                <a:latin typeface="Segoe UI" panose="020B0502040204020203"/>
              </a:defRPr>
            </a:pPr>
            <a:r>
              <a:t>📈  </a:t>
            </a:r>
            <a:r>
              <a:rPr lang="en-US"/>
              <a:t>   </a:t>
            </a:r>
            <a:r>
              <a:t>Historical Data Availability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3931920"/>
            <a:ext cx="475488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>
                <a:solidFill>
                  <a:schemeClr val="bg1">
                    <a:lumMod val="95000"/>
                  </a:schemeClr>
                </a:solidFill>
              </a:rPr>
              <a:t>OpenWeatherMap's historical weather API is paid. Used the free Air Pollution History API for AQI trends + stored weather snapshots via background service.</a:t>
            </a:r>
            <a:endParaRPr sz="1300" b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5924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000" b="0">
                <a:solidFill>
                  <a:srgbClr val="00E676"/>
                </a:solidFill>
                <a:latin typeface="Segoe UI" panose="020B0502040204020203"/>
              </a:defRPr>
            </a:pPr>
            <a:r>
              <a:t>✅ Hybrid Data Strategy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Future Scope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4" name="Rounded Rectangle 3"/>
          <p:cNvSpPr/>
          <p:nvPr>
            <p:custDataLst>
              <p:tags r:id="rId2"/>
            </p:custDataLst>
          </p:nvPr>
        </p:nvSpPr>
        <p:spPr>
          <a:xfrm>
            <a:off x="655321" y="153162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9641" y="16687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🤖  ML-Based AQI Prediction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929641" y="2034540"/>
            <a:ext cx="475488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>
                <a:solidFill>
                  <a:schemeClr val="bg1">
                    <a:lumMod val="85000"/>
                  </a:schemeClr>
                </a:solidFill>
              </a:rPr>
              <a:t>Train machine learning models on historical data to predict AQI levels 24–72 hours in advance for proactive alerts</a:t>
            </a:r>
            <a:endParaRPr sz="13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Rounded Rectangle 6"/>
          <p:cNvSpPr/>
          <p:nvPr>
            <p:custDataLst>
              <p:tags r:id="rId4"/>
            </p:custDataLst>
          </p:nvPr>
        </p:nvSpPr>
        <p:spPr>
          <a:xfrm>
            <a:off x="6233160" y="153162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480" y="16687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📧  Email/SMS Notifications</a:t>
            </a: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6507480" y="2034540"/>
            <a:ext cx="475488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>
                <a:solidFill>
                  <a:schemeClr val="bg1">
                    <a:lumMod val="85000"/>
                  </a:schemeClr>
                </a:solidFill>
              </a:rPr>
              <a:t>Integrate SendGrid or Twilio to push real-time email and SMS alerts when AQI crosses subscribed thresholds</a:t>
            </a:r>
            <a:endParaRPr sz="13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Rounded Rectangle 9"/>
          <p:cNvSpPr/>
          <p:nvPr>
            <p:custDataLst>
              <p:tags r:id="rId6"/>
            </p:custDataLst>
          </p:nvPr>
        </p:nvSpPr>
        <p:spPr>
          <a:xfrm>
            <a:off x="655321" y="304038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641" y="31775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👥  Community Reporting</a:t>
            </a: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929641" y="3543300"/>
            <a:ext cx="475488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>
                <a:solidFill>
                  <a:schemeClr val="bg1">
                    <a:lumMod val="85000"/>
                  </a:schemeClr>
                </a:solidFill>
              </a:rPr>
              <a:t>Allow citizens to report local pollution events (burning, construction, industrial) with geo-tagged photos to crowdsource data</a:t>
            </a:r>
            <a:endParaRPr sz="13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Rounded Rectangle 12"/>
          <p:cNvSpPr/>
          <p:nvPr>
            <p:custDataLst>
              <p:tags r:id="rId8"/>
            </p:custDataLst>
          </p:nvPr>
        </p:nvSpPr>
        <p:spPr>
          <a:xfrm>
            <a:off x="6233160" y="304038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480" y="31775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📱  Mobile Application</a:t>
            </a: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6507480" y="3543300"/>
            <a:ext cx="475488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>
                <a:solidFill>
                  <a:schemeClr val="bg1">
                    <a:lumMod val="85000"/>
                  </a:schemeClr>
                </a:solidFill>
              </a:rPr>
              <a:t>Build native iOS/Android apps using .NET MAUI for richer mobile experience with push notifications</a:t>
            </a:r>
            <a:endParaRPr sz="13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Rounded Rectangle 15"/>
          <p:cNvSpPr/>
          <p:nvPr>
            <p:custDataLst>
              <p:tags r:id="rId10"/>
            </p:custDataLst>
          </p:nvPr>
        </p:nvSpPr>
        <p:spPr>
          <a:xfrm>
            <a:off x="655321" y="454914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641" y="46863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🌍  Multi-Country Expansion</a:t>
            </a: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929641" y="5052060"/>
            <a:ext cx="475488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>
                <a:solidFill>
                  <a:schemeClr val="bg1">
                    <a:lumMod val="85000"/>
                  </a:schemeClr>
                </a:solidFill>
              </a:rPr>
              <a:t>Extend beyond India to cover South Asian countries with their respective AQI standards and breakpoint tables</a:t>
            </a:r>
            <a:endParaRPr sz="13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ounded Rectangle 18"/>
          <p:cNvSpPr/>
          <p:nvPr>
            <p:custDataLst>
              <p:tags r:id="rId12"/>
            </p:custDataLst>
          </p:nvPr>
        </p:nvSpPr>
        <p:spPr>
          <a:xfrm>
            <a:off x="6233160" y="4549140"/>
            <a:ext cx="5303520" cy="1325880"/>
          </a:xfrm>
          <a:prstGeom prst="roundRect">
            <a:avLst>
              <a:gd name="adj" fmla="val 5000"/>
            </a:avLst>
          </a:prstGeom>
          <a:solidFill>
            <a:srgbClr val="1118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480" y="46863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00E676"/>
                </a:solidFill>
                <a:latin typeface="Segoe UI" panose="020B0502040204020203"/>
              </a:defRPr>
            </a:pPr>
            <a:r>
              <a:t>📊  Advanced Analytics</a:t>
            </a:r>
          </a:p>
        </p:txBody>
      </p:sp>
      <p:sp>
        <p:nvSpPr>
          <p:cNvPr id="21" name="TextBox 20"/>
          <p:cNvSpPr txBox="1"/>
          <p:nvPr>
            <p:custDataLst>
              <p:tags r:id="rId13"/>
            </p:custDataLst>
          </p:nvPr>
        </p:nvSpPr>
        <p:spPr>
          <a:xfrm>
            <a:off x="6507480" y="5052060"/>
            <a:ext cx="475488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b="1">
                <a:solidFill>
                  <a:schemeClr val="bg1">
                    <a:lumMod val="85000"/>
                  </a:schemeClr>
                </a:solidFill>
              </a:rPr>
              <a:t>Add seasonal pattern analysis, year-over-year comparisons, correlation with traffic/industrial data, and data visualization exports</a:t>
            </a:r>
            <a:endParaRPr sz="1300" b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System Architecture Diagram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2" name="Picture 1" descr="mermaid-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90" y="1498600"/>
            <a:ext cx="11716385" cy="43675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ER Diagram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7" name="Picture 6" descr="ER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135" y="1138555"/>
            <a:ext cx="8733790" cy="55886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Conclusion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5295" y="1149985"/>
            <a:ext cx="9172575" cy="5135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Aft>
                <a:spcPts val="1200"/>
              </a:spcAft>
            </a:pPr>
            <a:r>
              <a:rPr sz="1600" b="1">
                <a:solidFill>
                  <a:srgbClr val="04A2B9"/>
                </a:solidFill>
                <a:latin typeface="Proxima Nova" panose="02000506030000020004"/>
                <a:sym typeface="+mn-ea"/>
              </a:rPr>
              <a:t>EnviroWatch </a:t>
            </a: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transforms raw environmental data into </a:t>
            </a:r>
            <a:r>
              <a:rPr sz="1600" b="1">
                <a:solidFill>
                  <a:srgbClr val="FF0000"/>
                </a:solidFill>
                <a:latin typeface="Proxima Nova" panose="02000506030000020004"/>
                <a:sym typeface="+mn-ea"/>
              </a:rPr>
              <a:t>actionable intelligence</a:t>
            </a: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 — covering </a:t>
            </a:r>
            <a:r>
              <a:rPr sz="1600" b="1">
                <a:solidFill>
                  <a:srgbClr val="04A2B9"/>
                </a:solidFill>
                <a:latin typeface="Proxima Nova" panose="02000506030000020004"/>
                <a:sym typeface="+mn-ea"/>
              </a:rPr>
              <a:t>780+ districts</a:t>
            </a: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 across India in real time.</a:t>
            </a:r>
            <a:endParaRPr sz="1600" b="0">
              <a:solidFill>
                <a:srgbClr val="333333"/>
              </a:solidFill>
              <a:latin typeface="Proxima Nova" panose="02000506030000020004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600" b="1">
                <a:solidFill>
                  <a:srgbClr val="04A2B9"/>
                </a:solidFill>
                <a:latin typeface="Proxima Nova" panose="02000506030000020004"/>
                <a:sym typeface="+mn-ea"/>
              </a:rPr>
              <a:t>⚡ What We Built</a:t>
            </a:r>
            <a:endParaRPr sz="1600" b="1">
              <a:solidFill>
                <a:srgbClr val="04A2B9"/>
              </a:solidFill>
              <a:latin typeface="Proxima Nova" panose="020005060300000200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▸  </a:t>
            </a: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Real-time AQI + Weather</a:t>
            </a: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 monitoring with Indian NAQI standards (CPCB breakpoints)</a:t>
            </a:r>
            <a:endParaRPr sz="1600" b="0">
              <a:solidFill>
                <a:srgbClr val="333333"/>
              </a:solidFill>
              <a:latin typeface="Proxima Nova" panose="020005060300000200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▸  </a:t>
            </a: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Interactive Leaflet.js Map</a:t>
            </a: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 with color-coded district markers &amp; live data popups</a:t>
            </a:r>
            <a:endParaRPr sz="1600" b="0">
              <a:solidFill>
                <a:srgbClr val="333333"/>
              </a:solidFill>
              <a:latin typeface="Proxima Nova" panose="020005060300000200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▸  </a:t>
            </a: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Multi-Chart Analysis</a:t>
            </a: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 — 7-day &amp; 30-day trend tracking with seasonal pattern detection</a:t>
            </a:r>
            <a:endParaRPr sz="1600" b="0">
              <a:solidFill>
                <a:srgbClr val="333333"/>
              </a:solidFill>
              <a:latin typeface="Proxima Nova" panose="020005060300000200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▸  </a:t>
            </a: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Smart Health Engine</a:t>
            </a: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 — AQI + Heat Index → personalized health recommendations</a:t>
            </a:r>
            <a:endParaRPr sz="1600" b="0">
              <a:solidFill>
                <a:srgbClr val="333333"/>
              </a:solidFill>
              <a:latin typeface="Proxima Nova" panose="020005060300000200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▸  </a:t>
            </a: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Export Suite</a:t>
            </a: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 — PDF reports (QuestPDF) + CSV downloads + Google OAuth</a:t>
            </a:r>
            <a:endParaRPr sz="1600" b="0">
              <a:solidFill>
                <a:srgbClr val="333333"/>
              </a:solidFill>
              <a:latin typeface="Proxima Nova" panose="02000506030000020004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600" b="1">
                <a:solidFill>
                  <a:srgbClr val="04A2B9"/>
                </a:solidFill>
                <a:latin typeface="Proxima Nova" panose="02000506030000020004"/>
                <a:sym typeface="+mn-ea"/>
              </a:rPr>
              <a:t>🛠️ Tech Stack</a:t>
            </a:r>
            <a:endParaRPr sz="1600" b="1">
              <a:solidFill>
                <a:srgbClr val="04A2B9"/>
              </a:solidFill>
              <a:latin typeface="Proxima Nova" panose="02000506030000020004"/>
            </a:endParaRP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C# .NET 8 MVC</a:t>
            </a:r>
            <a:r>
              <a:rPr sz="1600">
                <a:solidFill>
                  <a:srgbClr val="04A2B9"/>
                </a:solidFill>
                <a:latin typeface="Proxima Nova" panose="02000506030000020004"/>
                <a:sym typeface="+mn-ea"/>
              </a:rPr>
              <a:t>  •  </a:t>
            </a: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MS SQL Server</a:t>
            </a:r>
            <a:r>
              <a:rPr sz="1600">
                <a:solidFill>
                  <a:srgbClr val="04A2B9"/>
                </a:solidFill>
                <a:latin typeface="Proxima Nova" panose="02000506030000020004"/>
                <a:sym typeface="+mn-ea"/>
              </a:rPr>
              <a:t>  •  </a:t>
            </a: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JavaScript/jQuery</a:t>
            </a:r>
            <a:r>
              <a:rPr sz="1600">
                <a:solidFill>
                  <a:srgbClr val="04A2B9"/>
                </a:solidFill>
                <a:latin typeface="Proxima Nova" panose="02000506030000020004"/>
                <a:sym typeface="+mn-ea"/>
              </a:rPr>
              <a:t>  •  </a:t>
            </a: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Leaflet.js</a:t>
            </a:r>
            <a:r>
              <a:rPr sz="1600">
                <a:solidFill>
                  <a:srgbClr val="04A2B9"/>
                </a:solidFill>
                <a:latin typeface="Proxima Nova" panose="02000506030000020004"/>
                <a:sym typeface="+mn-ea"/>
              </a:rPr>
              <a:t>  •  </a:t>
            </a: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Chart.js</a:t>
            </a:r>
            <a:r>
              <a:rPr sz="1600">
                <a:solidFill>
                  <a:srgbClr val="04A2B9"/>
                </a:solidFill>
                <a:latin typeface="Proxima Nova" panose="02000506030000020004"/>
                <a:sym typeface="+mn-ea"/>
              </a:rPr>
              <a:t>  •  </a:t>
            </a: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OpenWeatherMap API</a:t>
            </a:r>
            <a:endParaRPr sz="1600" b="1">
              <a:solidFill>
                <a:srgbClr val="333333"/>
              </a:solidFill>
              <a:latin typeface="Proxima Nova" panose="02000506030000020004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600" b="1">
                <a:solidFill>
                  <a:srgbClr val="04A2B9"/>
                </a:solidFill>
                <a:latin typeface="Proxima Nova" panose="02000506030000020004"/>
                <a:sym typeface="+mn-ea"/>
              </a:rPr>
              <a:t>🎯 Impact &amp; Future Scope</a:t>
            </a:r>
            <a:endParaRPr sz="1600" b="1">
              <a:solidFill>
                <a:srgbClr val="04A2B9"/>
              </a:solidFill>
              <a:latin typeface="Proxima Nova" panose="02000506030000020004"/>
            </a:endParaRP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▸  </a:t>
            </a: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Empowers citizens &amp; policymakers</a:t>
            </a: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 with data-driven environmental decisions</a:t>
            </a:r>
            <a:endParaRPr sz="1600" b="0">
              <a:solidFill>
                <a:srgbClr val="333333"/>
              </a:solidFill>
              <a:latin typeface="Proxima Nova" panose="02000506030000020004"/>
            </a:endParaRP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▸  </a:t>
            </a: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Scalable architecture</a:t>
            </a: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 ready for IoT sensors, predictive ML models &amp; real-time alerts</a:t>
            </a:r>
            <a:endParaRPr sz="1600" b="0">
              <a:solidFill>
                <a:srgbClr val="333333"/>
              </a:solidFill>
              <a:latin typeface="Proxima Nova" panose="02000506030000020004"/>
            </a:endParaRP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▸  </a:t>
            </a:r>
            <a:r>
              <a:rPr sz="1600" b="1">
                <a:solidFill>
                  <a:srgbClr val="333333"/>
                </a:solidFill>
                <a:latin typeface="Proxima Nova" panose="02000506030000020004"/>
                <a:sym typeface="+mn-ea"/>
              </a:rPr>
              <a:t>Bridges the gap</a:t>
            </a:r>
            <a:r>
              <a:rPr sz="1600">
                <a:solidFill>
                  <a:srgbClr val="333333"/>
                </a:solidFill>
                <a:latin typeface="Proxima Nova" panose="02000506030000020004"/>
                <a:sym typeface="+mn-ea"/>
              </a:rPr>
              <a:t> between open government data and public health awareness</a:t>
            </a:r>
            <a:endParaRPr sz="1600" b="0">
              <a:solidFill>
                <a:srgbClr val="333333"/>
              </a:solidFill>
              <a:latin typeface="Proxima Nova" panose="02000506030000020004"/>
            </a:endParaRPr>
          </a:p>
          <a:p>
            <a:pPr algn="ctr">
              <a:spcBef>
                <a:spcPts val="1400"/>
              </a:spcBef>
            </a:pPr>
            <a:r>
              <a:rPr sz="1600" b="1">
                <a:solidFill>
                  <a:srgbClr val="04A2B9"/>
                </a:solidFill>
                <a:latin typeface="Proxima Nova" panose="02000506030000020004"/>
                <a:sym typeface="+mn-ea"/>
              </a:rPr>
              <a:t>"Breathe Informed. Act Empowered."</a:t>
            </a:r>
            <a:endParaRPr lang="en-US" altLang="en-US" sz="1600" dirty="0">
              <a:solidFill>
                <a:srgbClr val="333333"/>
              </a:solidFill>
              <a:latin typeface="Proxima Nova" panose="02000506030000020004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Our System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2" name="Picture 1" descr="WhatsApp Image 2026-03-06 at 9.55.31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" y="1101090"/>
            <a:ext cx="9912985" cy="55765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Our System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3" name="Picture 2" descr="WhatsApp Image 2026-03-06 at 9.57.46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" y="1113790"/>
            <a:ext cx="9882505" cy="55587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Our System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2" name="Picture 1" descr="WhatsApp Image 2026-03-06 at 9.58.31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" y="1150620"/>
            <a:ext cx="9690735" cy="54514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Our System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3" name="Picture 2" descr="WhatsApp Image 2026-03-06 at 10.13.23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" y="1148080"/>
            <a:ext cx="9759950" cy="54902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Our System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2" name="Picture 1" descr="WhatsApp Image 2026-03-06 at 9.59.43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" y="1144905"/>
            <a:ext cx="9723755" cy="546989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Our System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3" name="Picture 2" descr="WhatsApp Image 2026-03-06 at 9.59.57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" y="1100455"/>
            <a:ext cx="9835515" cy="55327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References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52780" y="1500505"/>
            <a:ext cx="10183495" cy="4684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[1]  Central Pollution Control Board (CPCB), "National Air Quality Index (NAQI)," Ministry of Environment, Forest and Climate Change, Government of India, 2014. [Online]. Available: </a:t>
            </a: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  <a:hlinkClick r:id="rId2" action="ppaction://hlinkfile"/>
              </a:rPr>
              <a:t>https://cpcb.nic.in</a:t>
            </a:r>
            <a:endParaRPr sz="13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[2]  GBD 2019 Risk Factors Collaborators, "Global burden of 87 risk factors in 204 countries and territories, 1990–2019," The Lancet, vol. 396, no. 10258, pp. 1223–1249, Oct. 2020.</a:t>
            </a:r>
            <a:endParaRPr sz="13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[3]  </a:t>
            </a:r>
            <a:r>
              <a:rPr sz="1300"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IQAir</a:t>
            </a: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, "2023 World Air Quality Report: Region &amp; City PM2.5 Ranking," </a:t>
            </a:r>
            <a:r>
              <a:rPr sz="1300"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IQAir</a:t>
            </a: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 AG, Switzerland, 2024. [Online]. Available: </a:t>
            </a: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  <a:hlinkClick r:id="rId3" action="ppaction://hlinkfile"/>
              </a:rPr>
              <a:t>https://www.iqair.com/world-air-quality-report</a:t>
            </a:r>
            <a:endParaRPr sz="13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[4]  </a:t>
            </a:r>
            <a:r>
              <a:rPr sz="1300"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OpenWeatherMap</a:t>
            </a: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, "Air Pollution API Documentation," </a:t>
            </a:r>
            <a:r>
              <a:rPr sz="1300"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OpenWeather</a:t>
            </a: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 Ltd., 2024. [Online]. Available: </a:t>
            </a: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  <a:hlinkClick r:id="rId4" action="ppaction://hlinkfile"/>
              </a:rPr>
              <a:t>https://openweathermap.org/api/air-pollution</a:t>
            </a:r>
            <a:endParaRPr sz="13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[5]  </a:t>
            </a:r>
            <a:r>
              <a:rPr sz="1300"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OpenWeatherMap</a:t>
            </a: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, "Current Weather Data API Documentation," </a:t>
            </a:r>
            <a:r>
              <a:rPr sz="1300"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OpenWeather</a:t>
            </a: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 Ltd., 2024. [Online]. Available: </a:t>
            </a: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  <a:hlinkClick r:id="rId5" action="ppaction://hlinkfile"/>
              </a:rPr>
              <a:t>https://openweathermap.org/current</a:t>
            </a:r>
            <a:endParaRPr sz="13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[6]  R. G. Steadman, "The assessment of sultriness. Part I: A temperature-humidity index based on human physiology and clothing science," J. Applied Meteorology, vol. 18, no. 7, pp. 861–873, 1979.</a:t>
            </a:r>
            <a:endParaRPr sz="13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[7]  L. P. </a:t>
            </a:r>
            <a:r>
              <a:rPr sz="1300" dirty="0" err="1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Rothfusz</a:t>
            </a: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, "The Heat Index Equation," National Weather Service (NWS), Technical Attachment SR 90-23, Fort Worth, TX, 1990.</a:t>
            </a:r>
            <a:endParaRPr sz="13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</a:rPr>
              <a:t>[8]  Microsoft, "ASP.NET Core MVC Documentation," Microsoft Learn, 2024. [Online]. Available:</a:t>
            </a:r>
            <a:r>
              <a:rPr sz="1300" dirty="0">
                <a:solidFill>
                  <a:schemeClr val="tx1"/>
                </a:solidFill>
                <a:latin typeface="Proxima Nova" panose="02000506030000020004" charset="0"/>
                <a:cs typeface="Proxima Nova" panose="02000506030000020004" charset="0"/>
                <a:sym typeface="+mn-ea"/>
                <a:hlinkClick r:id="rId6" action="ppaction://hlinkfile"/>
              </a:rPr>
              <a:t> https://learn.microsoft.com/en-us/aspnet/core/mvc</a:t>
            </a:r>
            <a:endParaRPr lang="en-US" sz="13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455295" y="277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References</a:t>
            </a:r>
            <a:endParaRPr lang="en-US" sz="2400" b="1" dirty="0">
              <a:solidFill>
                <a:srgbClr val="04A2B9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52780" y="1500505"/>
            <a:ext cx="10183495" cy="4684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sym typeface="+mn-ea"/>
              </a:rPr>
              <a:t>[9]   Microsoft, "Entity Framework Core Documentation," Microsoft Learn, 2024. [Online]. Available: </a:t>
            </a:r>
            <a:r>
              <a:rPr sz="1300" dirty="0">
                <a:solidFill>
                  <a:schemeClr val="tx1"/>
                </a:solidFill>
                <a:sym typeface="+mn-ea"/>
                <a:hlinkClick r:id="rId2" action="ppaction://hlinkfile"/>
              </a:rPr>
              <a:t>https://learn.microsoft.com/en-us/ef/core</a:t>
            </a:r>
            <a:endParaRPr sz="1300" dirty="0">
              <a:solidFill>
                <a:schemeClr val="tx1"/>
              </a:solidFill>
              <a:sym typeface="+mn-ea"/>
            </a:endParaRP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sym typeface="+mn-ea"/>
              </a:rPr>
              <a:t>[10]  Microsoft, "Background Tasks with Hosted Services in ASP.NET Core," Microsoft Learn, 2024. [Online]. Available: </a:t>
            </a:r>
            <a:r>
              <a:rPr sz="1300" dirty="0">
                <a:solidFill>
                  <a:schemeClr val="tx1"/>
                </a:solidFill>
                <a:sym typeface="+mn-ea"/>
                <a:hlinkClick r:id="rId3" action="ppaction://hlinkfile"/>
              </a:rPr>
              <a:t>https://learn.microsoft.com/en-us/aspnet/core/fundamentals/host/hosted-services</a:t>
            </a:r>
            <a:endParaRPr sz="1300" dirty="0">
              <a:solidFill>
                <a:schemeClr val="tx1"/>
              </a:solidFill>
              <a:sym typeface="+mn-ea"/>
            </a:endParaRP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sym typeface="+mn-ea"/>
              </a:rPr>
              <a:t>[11]  V. </a:t>
            </a:r>
            <a:r>
              <a:rPr sz="1300" dirty="0" err="1">
                <a:solidFill>
                  <a:schemeClr val="tx1"/>
                </a:solidFill>
                <a:sym typeface="+mn-ea"/>
              </a:rPr>
              <a:t>Agafonkin</a:t>
            </a:r>
            <a:r>
              <a:rPr sz="1300" dirty="0">
                <a:solidFill>
                  <a:schemeClr val="tx1"/>
                </a:solidFill>
                <a:sym typeface="+mn-ea"/>
              </a:rPr>
              <a:t>, "Leaflet — An Open-Source JavaScript Library for Interactive Maps," Leaflet, 2024. [Online]. Available: </a:t>
            </a:r>
            <a:r>
              <a:rPr sz="1300" dirty="0">
                <a:solidFill>
                  <a:schemeClr val="tx1"/>
                </a:solidFill>
                <a:sym typeface="+mn-ea"/>
                <a:hlinkClick r:id="rId4" action="ppaction://hlinkfile"/>
              </a:rPr>
              <a:t>https://leafletjs.com</a:t>
            </a:r>
            <a:endParaRPr sz="1300" dirty="0">
              <a:solidFill>
                <a:schemeClr val="tx1"/>
              </a:solidFill>
              <a:sym typeface="+mn-ea"/>
            </a:endParaRP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sym typeface="+mn-ea"/>
              </a:rPr>
              <a:t>[12]  Chart.js Contributors, "Chart.js — Simple yet Flexible JavaScript Charting," 2024. [Online]. Available: </a:t>
            </a:r>
            <a:r>
              <a:rPr sz="1300" dirty="0">
                <a:solidFill>
                  <a:schemeClr val="tx1"/>
                </a:solidFill>
                <a:sym typeface="+mn-ea"/>
                <a:hlinkClick r:id="rId5" action="ppaction://hlinkfile"/>
              </a:rPr>
              <a:t>https://www.chartjs.org</a:t>
            </a:r>
            <a:endParaRPr sz="1300" dirty="0">
              <a:solidFill>
                <a:schemeClr val="tx1"/>
              </a:solidFill>
              <a:sym typeface="+mn-ea"/>
            </a:endParaRP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sym typeface="+mn-ea"/>
              </a:rPr>
              <a:t>[13]  M. Stachowiak, "</a:t>
            </a:r>
            <a:r>
              <a:rPr sz="1300" dirty="0" err="1">
                <a:solidFill>
                  <a:schemeClr val="tx1"/>
                </a:solidFill>
                <a:sym typeface="+mn-ea"/>
              </a:rPr>
              <a:t>QuestPDF</a:t>
            </a:r>
            <a:r>
              <a:rPr sz="1300" dirty="0">
                <a:solidFill>
                  <a:schemeClr val="tx1"/>
                </a:solidFill>
                <a:sym typeface="+mn-ea"/>
              </a:rPr>
              <a:t> — Modern .NET Library for PDF Document Generation," </a:t>
            </a:r>
            <a:r>
              <a:rPr sz="1300" dirty="0" err="1">
                <a:solidFill>
                  <a:schemeClr val="tx1"/>
                </a:solidFill>
                <a:sym typeface="+mn-ea"/>
              </a:rPr>
              <a:t>QuestPDF</a:t>
            </a:r>
            <a:r>
              <a:rPr sz="1300" dirty="0">
                <a:solidFill>
                  <a:schemeClr val="tx1"/>
                </a:solidFill>
                <a:sym typeface="+mn-ea"/>
              </a:rPr>
              <a:t>, 2024. [Online]. Available: </a:t>
            </a:r>
            <a:r>
              <a:rPr sz="1300" dirty="0">
                <a:solidFill>
                  <a:schemeClr val="tx1"/>
                </a:solidFill>
                <a:sym typeface="+mn-ea"/>
                <a:hlinkClick r:id="rId6" action="ppaction://hlinkfile"/>
              </a:rPr>
              <a:t>https://www.questpdf.com</a:t>
            </a:r>
            <a:endParaRPr sz="1300" dirty="0">
              <a:solidFill>
                <a:schemeClr val="tx1"/>
              </a:solidFill>
              <a:sym typeface="+mn-ea"/>
            </a:endParaRP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sym typeface="+mn-ea"/>
              </a:rPr>
              <a:t>[14]  Google, "Google OAuth 2.0 for Server-side Web Apps," Google Identity Platform, 2024. [Online]. Available: </a:t>
            </a:r>
            <a:r>
              <a:rPr sz="1300" dirty="0">
                <a:solidFill>
                  <a:schemeClr val="tx1"/>
                </a:solidFill>
                <a:sym typeface="+mn-ea"/>
                <a:hlinkClick r:id="rId7" action="ppaction://hlinkfile"/>
              </a:rPr>
              <a:t>https://developers.google.com/identity/protocols/oauth2</a:t>
            </a:r>
            <a:endParaRPr sz="1300" dirty="0">
              <a:solidFill>
                <a:schemeClr val="tx1"/>
              </a:solidFill>
              <a:sym typeface="+mn-ea"/>
            </a:endParaRP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 panose="020B0502040204020203"/>
              </a:defRPr>
            </a:pPr>
            <a:r>
              <a:rPr sz="1300" dirty="0">
                <a:solidFill>
                  <a:schemeClr val="tx1"/>
                </a:solidFill>
                <a:sym typeface="+mn-ea"/>
              </a:rPr>
              <a:t>[15]  W3C, "Web App Manifest Specification," World Wide Web Consortium, 2024. [Online]. Available: </a:t>
            </a:r>
            <a:r>
              <a:rPr sz="1300" dirty="0">
                <a:solidFill>
                  <a:schemeClr val="tx1"/>
                </a:solidFill>
                <a:sym typeface="+mn-ea"/>
                <a:hlinkClick r:id="rId8" action="ppaction://hlinkfile"/>
              </a:rPr>
              <a:t>https://www.w3.org/TR/appmanifest</a:t>
            </a:r>
            <a:endParaRPr lang="en-US" sz="1300" dirty="0">
              <a:solidFill>
                <a:schemeClr val="tx1"/>
              </a:solidFill>
              <a:latin typeface="Proxima Nova" panose="02000506030000020004" charset="0"/>
              <a:cs typeface="Proxima Nova" panose="02000506030000020004" charset="0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4343082" y="2967350"/>
            <a:ext cx="300037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r>
              <a:rPr lang="en-IN" sz="4800" b="1" dirty="0">
                <a:solidFill>
                  <a:schemeClr val="tx1"/>
                </a:solidFill>
              </a:rPr>
              <a:t>Q&amp;A</a:t>
            </a:r>
            <a:endParaRPr sz="4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285.9,&quot;left&quot;:48.6,&quot;top&quot;:113.8,&quot;width&quot;:859.05}"/>
</p:tagLst>
</file>

<file path=ppt/tags/tag6.xml><?xml version="1.0" encoding="utf-8"?>
<p:tagLst xmlns:p="http://schemas.openxmlformats.org/presentationml/2006/main">
  <p:tag name="KSO_WM_DIAGRAM_VIRTUALLY_FRAME" val="{&quot;height&quot;:285.9,&quot;left&quot;:48.6,&quot;top&quot;:113.8,&quot;width&quot;:859.05}"/>
</p:tagLst>
</file>

<file path=ppt/tags/tag7.xml><?xml version="1.0" encoding="utf-8"?>
<p:tagLst xmlns:p="http://schemas.openxmlformats.org/presentationml/2006/main">
  <p:tag name="KSO_WM_DIAGRAM_VIRTUALLY_FRAME" val="{&quot;height&quot;:285.9,&quot;left&quot;:48.6,&quot;top&quot;:113.8,&quot;width&quot;:859.05}"/>
</p:tagLst>
</file>

<file path=ppt/tags/tag8.xml><?xml version="1.0" encoding="utf-8"?>
<p:tagLst xmlns:p="http://schemas.openxmlformats.org/presentationml/2006/main">
  <p:tag name="KSO_WM_DIAGRAM_VIRTUALLY_FRAME" val="{&quot;height&quot;:285.9,&quot;left&quot;:48.6,&quot;top&quot;:113.8,&quot;width&quot;:859.05}"/>
</p:tagLst>
</file>

<file path=ppt/tags/tag9.xml><?xml version="1.0" encoding="utf-8"?>
<p:tagLst xmlns:p="http://schemas.openxmlformats.org/presentationml/2006/main">
  <p:tag name="KSO_WM_DIAGRAM_VIRTUALLY_FRAME" val="{&quot;height&quot;:285.9,&quot;left&quot;:48.6,&quot;top&quot;:113.8,&quot;width&quot;:859.05}"/>
</p:tagLst>
</file>

<file path=ppt/tags/tag10.xml><?xml version="1.0" encoding="utf-8"?>
<p:tagLst xmlns:p="http://schemas.openxmlformats.org/presentationml/2006/main">
  <p:tag name="KSO_WM_DIAGRAM_VIRTUALLY_FRAME" val="{&quot;height&quot;:285.9,&quot;left&quot;:48.6,&quot;top&quot;:113.8,&quot;width&quot;:859.05}"/>
</p:tagLst>
</file>

<file path=ppt/tags/tag11.xml><?xml version="1.0" encoding="utf-8"?>
<p:tagLst xmlns:p="http://schemas.openxmlformats.org/presentationml/2006/main">
  <p:tag name="KSO_WM_DIAGRAM_VIRTUALLY_FRAME" val="{&quot;height&quot;:285.9,&quot;left&quot;:48.6,&quot;top&quot;:113.8,&quot;width&quot;:859.05}"/>
</p:tagLst>
</file>

<file path=ppt/tags/tag12.xml><?xml version="1.0" encoding="utf-8"?>
<p:tagLst xmlns:p="http://schemas.openxmlformats.org/presentationml/2006/main">
  <p:tag name="KSO_WM_DIAGRAM_VIRTUALLY_FRAME" val="{&quot;height&quot;:285.9,&quot;left&quot;:48.6,&quot;top&quot;:113.8,&quot;width&quot;:859.05}"/>
</p:tagLst>
</file>

<file path=ppt/tags/tag13.xml><?xml version="1.0" encoding="utf-8"?>
<p:tagLst xmlns:p="http://schemas.openxmlformats.org/presentationml/2006/main">
  <p:tag name="KSO_WM_DIAGRAM_VIRTUALLY_FRAME" val="{&quot;height&quot;:285.9,&quot;left&quot;:48.6,&quot;top&quot;:113.8,&quot;width&quot;:859.05}"/>
</p:tagLst>
</file>

<file path=ppt/tags/tag14.xml><?xml version="1.0" encoding="utf-8"?>
<p:tagLst xmlns:p="http://schemas.openxmlformats.org/presentationml/2006/main">
  <p:tag name="KSO_WM_DIAGRAM_VIRTUALLY_FRAME" val="{&quot;height&quot;:285.9,&quot;left&quot;:48.6,&quot;top&quot;:113.8,&quot;width&quot;:859.05}"/>
</p:tagLst>
</file>

<file path=ppt/tags/tag15.xml><?xml version="1.0" encoding="utf-8"?>
<p:tagLst xmlns:p="http://schemas.openxmlformats.org/presentationml/2006/main">
  <p:tag name="KSO_WM_DIAGRAM_VIRTUALLY_FRAME" val="{&quot;height&quot;:285.9,&quot;left&quot;:48.6,&quot;top&quot;:113.8,&quot;width&quot;:859.05}"/>
</p:tagLst>
</file>

<file path=ppt/tags/tag16.xml><?xml version="1.0" encoding="utf-8"?>
<p:tagLst xmlns:p="http://schemas.openxmlformats.org/presentationml/2006/main">
  <p:tag name="KSO_WM_DIAGRAM_VIRTUALLY_FRAME" val="{&quot;height&quot;:285.9,&quot;left&quot;:48.6,&quot;top&quot;:113.8,&quot;width&quot;:859.05}"/>
</p:tagLst>
</file>

<file path=ppt/tags/tag17.xml><?xml version="1.0" encoding="utf-8"?>
<p:tagLst xmlns:p="http://schemas.openxmlformats.org/presentationml/2006/main">
  <p:tag name="KSO_WM_DIAGRAM_VIRTUALLY_FRAME" val="{&quot;height&quot;:360,&quot;left&quot;:515.85,&quot;top&quot;:122.4,&quot;width&quot;:345.6}"/>
</p:tagLst>
</file>

<file path=ppt/tags/tag18.xml><?xml version="1.0" encoding="utf-8"?>
<p:tagLst xmlns:p="http://schemas.openxmlformats.org/presentationml/2006/main">
  <p:tag name="KSO_WM_DIAGRAM_VIRTUALLY_FRAME" val="{&quot;height&quot;:360,&quot;left&quot;:515.85,&quot;top&quot;:122.4,&quot;width&quot;:345.6}"/>
</p:tagLst>
</file>

<file path=ppt/tags/tag19.xml><?xml version="1.0" encoding="utf-8"?>
<p:tagLst xmlns:p="http://schemas.openxmlformats.org/presentationml/2006/main">
  <p:tag name="KSO_WM_DIAGRAM_VIRTUALLY_FRAME" val="{&quot;height&quot;:360,&quot;left&quot;:515.85,&quot;top&quot;:122.4,&quot;width&quot;:345.6}"/>
</p:tagLst>
</file>

<file path=ppt/tags/tag20.xml><?xml version="1.0" encoding="utf-8"?>
<p:tagLst xmlns:p="http://schemas.openxmlformats.org/presentationml/2006/main">
  <p:tag name="KSO_WM_DIAGRAM_VIRTUALLY_FRAME" val="{&quot;height&quot;:360,&quot;left&quot;:515.85,&quot;top&quot;:122.4,&quot;width&quot;:345.6}"/>
</p:tagLst>
</file>

<file path=ppt/tags/tag21.xml><?xml version="1.0" encoding="utf-8"?>
<p:tagLst xmlns:p="http://schemas.openxmlformats.org/presentationml/2006/main">
  <p:tag name="KSO_WM_DIAGRAM_VIRTUALLY_FRAME" val="{&quot;height&quot;:360,&quot;left&quot;:515.85,&quot;top&quot;:122.4,&quot;width&quot;:345.6}"/>
</p:tagLst>
</file>

<file path=ppt/tags/tag22.xml><?xml version="1.0" encoding="utf-8"?>
<p:tagLst xmlns:p="http://schemas.openxmlformats.org/presentationml/2006/main">
  <p:tag name="KSO_WM_DIAGRAM_VIRTUALLY_FRAME" val="{&quot;height&quot;:360,&quot;left&quot;:515.85,&quot;top&quot;:122.4,&quot;width&quot;:345.6}"/>
</p:tagLst>
</file>

<file path=ppt/tags/tag23.xml><?xml version="1.0" encoding="utf-8"?>
<p:tagLst xmlns:p="http://schemas.openxmlformats.org/presentationml/2006/main">
  <p:tag name="KSO_WM_DIAGRAM_VIRTUALLY_FRAME" val="{&quot;height&quot;:360,&quot;left&quot;:515.85,&quot;top&quot;:122.4,&quot;width&quot;:345.6}"/>
</p:tagLst>
</file>

<file path=ppt/tags/tag24.xml><?xml version="1.0" encoding="utf-8"?>
<p:tagLst xmlns:p="http://schemas.openxmlformats.org/presentationml/2006/main">
  <p:tag name="KSO_WM_DIAGRAM_VIRTUALLY_FRAME" val="{&quot;height&quot;:360,&quot;left&quot;:515.85,&quot;top&quot;:122.4,&quot;width&quot;:345.6}"/>
</p:tagLst>
</file>

<file path=ppt/tags/tag25.xml><?xml version="1.0" encoding="utf-8"?>
<p:tagLst xmlns:p="http://schemas.openxmlformats.org/presentationml/2006/main">
  <p:tag name="KSO_WM_DIAGRAM_VIRTUALLY_FRAME" val="{&quot;height&quot;:360,&quot;left&quot;:515.85,&quot;top&quot;:122.4,&quot;width&quot;:345.6}"/>
</p:tagLst>
</file>

<file path=ppt/tags/tag26.xml><?xml version="1.0" encoding="utf-8"?>
<p:tagLst xmlns:p="http://schemas.openxmlformats.org/presentationml/2006/main">
  <p:tag name="KSO_WM_DIAGRAM_VIRTUALLY_FRAME" val="{&quot;height&quot;:360,&quot;left&quot;:515.85,&quot;top&quot;:122.4,&quot;width&quot;:345.6}"/>
</p:tagLst>
</file>

<file path=ppt/tags/tag27.xml><?xml version="1.0" encoding="utf-8"?>
<p:tagLst xmlns:p="http://schemas.openxmlformats.org/presentationml/2006/main">
  <p:tag name="KSO_WM_DIAGRAM_VIRTUALLY_FRAME" val="{&quot;height&quot;:360,&quot;left&quot;:515.85,&quot;top&quot;:122.4,&quot;width&quot;:345.6}"/>
</p:tagLst>
</file>

<file path=ppt/tags/tag28.xml><?xml version="1.0" encoding="utf-8"?>
<p:tagLst xmlns:p="http://schemas.openxmlformats.org/presentationml/2006/main">
  <p:tag name="KSO_WM_DIAGRAM_VIRTUALLY_FRAME" val="{&quot;height&quot;:360,&quot;left&quot;:515.85,&quot;top&quot;:122.4,&quot;width&quot;:345.6}"/>
</p:tagLst>
</file>

<file path=ppt/tags/tag29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30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31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32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33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34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35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36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37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38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39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40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41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42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43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44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45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46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47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48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49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50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51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52.xml><?xml version="1.0" encoding="utf-8"?>
<p:tagLst xmlns:p="http://schemas.openxmlformats.org/presentationml/2006/main">
  <p:tag name="KSO_WM_DIAGRAM_VIRTUALLY_FRAME" val="{&quot;height&quot;:343.8,&quot;left&quot;:51.600078740157485,&quot;top&quot;:106.2,&quot;width&quot;:856.7999212598424}"/>
</p:tagLst>
</file>

<file path=ppt/tags/tag53.xml><?xml version="1.0" encoding="utf-8"?>
<p:tagLst xmlns:p="http://schemas.openxmlformats.org/presentationml/2006/main">
  <p:tag name="KSO_WM_DIAGRAM_VIRTUALLY_FRAME" val="{&quot;height&quot;:342,&quot;left&quot;:51.600078740157485,&quot;top&quot;:120.6,&quot;width&quot;:856.7999212598424}"/>
</p:tagLst>
</file>

<file path=ppt/tags/tag54.xml><?xml version="1.0" encoding="utf-8"?>
<p:tagLst xmlns:p="http://schemas.openxmlformats.org/presentationml/2006/main">
  <p:tag name="KSO_WM_DIAGRAM_VIRTUALLY_FRAME" val="{&quot;height&quot;:342,&quot;left&quot;:51.600078740157485,&quot;top&quot;:120.6,&quot;width&quot;:856.7999212598424}"/>
</p:tagLst>
</file>

<file path=ppt/tags/tag55.xml><?xml version="1.0" encoding="utf-8"?>
<p:tagLst xmlns:p="http://schemas.openxmlformats.org/presentationml/2006/main">
  <p:tag name="KSO_WM_DIAGRAM_VIRTUALLY_FRAME" val="{&quot;height&quot;:342,&quot;left&quot;:51.600078740157485,&quot;top&quot;:120.6,&quot;width&quot;:856.7999212598424}"/>
</p:tagLst>
</file>

<file path=ppt/tags/tag56.xml><?xml version="1.0" encoding="utf-8"?>
<p:tagLst xmlns:p="http://schemas.openxmlformats.org/presentationml/2006/main">
  <p:tag name="KSO_WM_DIAGRAM_VIRTUALLY_FRAME" val="{&quot;height&quot;:342,&quot;left&quot;:51.600078740157485,&quot;top&quot;:120.6,&quot;width&quot;:856.7999212598424}"/>
</p:tagLst>
</file>

<file path=ppt/tags/tag57.xml><?xml version="1.0" encoding="utf-8"?>
<p:tagLst xmlns:p="http://schemas.openxmlformats.org/presentationml/2006/main">
  <p:tag name="KSO_WM_DIAGRAM_VIRTUALLY_FRAME" val="{&quot;height&quot;:342,&quot;left&quot;:51.600078740157485,&quot;top&quot;:120.6,&quot;width&quot;:856.7999212598424}"/>
</p:tagLst>
</file>

<file path=ppt/tags/tag58.xml><?xml version="1.0" encoding="utf-8"?>
<p:tagLst xmlns:p="http://schemas.openxmlformats.org/presentationml/2006/main">
  <p:tag name="KSO_WM_DIAGRAM_VIRTUALLY_FRAME" val="{&quot;height&quot;:342,&quot;left&quot;:51.600078740157485,&quot;top&quot;:120.6,&quot;width&quot;:856.7999212598424}"/>
</p:tagLst>
</file>

<file path=ppt/tags/tag59.xml><?xml version="1.0" encoding="utf-8"?>
<p:tagLst xmlns:p="http://schemas.openxmlformats.org/presentationml/2006/main">
  <p:tag name="KSO_WM_DIAGRAM_VIRTUALLY_FRAME" val="{&quot;height&quot;:342,&quot;left&quot;:51.600078740157485,&quot;top&quot;:120.6,&quot;width&quot;:856.7999212598424}"/>
</p:tagLst>
</file>

<file path=ppt/tags/tag60.xml><?xml version="1.0" encoding="utf-8"?>
<p:tagLst xmlns:p="http://schemas.openxmlformats.org/presentationml/2006/main">
  <p:tag name="KSO_WM_DIAGRAM_VIRTUALLY_FRAME" val="{&quot;height&quot;:342,&quot;left&quot;:51.600078740157485,&quot;top&quot;:120.6,&quot;width&quot;:856.7999212598424}"/>
</p:tagLst>
</file>

<file path=ppt/tags/tag61.xml><?xml version="1.0" encoding="utf-8"?>
<p:tagLst xmlns:p="http://schemas.openxmlformats.org/presentationml/2006/main">
  <p:tag name="KSO_WM_DIAGRAM_VIRTUALLY_FRAME" val="{&quot;height&quot;:342,&quot;left&quot;:51.600078740157485,&quot;top&quot;:120.6,&quot;width&quot;:856.7999212598424}"/>
</p:tagLst>
</file>

<file path=ppt/tags/tag62.xml><?xml version="1.0" encoding="utf-8"?>
<p:tagLst xmlns:p="http://schemas.openxmlformats.org/presentationml/2006/main">
  <p:tag name="KSO_WM_DIAGRAM_VIRTUALLY_FRAME" val="{&quot;height&quot;:342,&quot;left&quot;:51.600078740157485,&quot;top&quot;:120.6,&quot;width&quot;:856.7999212598424}"/>
</p:tagLst>
</file>

<file path=ppt/tags/tag63.xml><?xml version="1.0" encoding="utf-8"?>
<p:tagLst xmlns:p="http://schemas.openxmlformats.org/presentationml/2006/main">
  <p:tag name="KSO_WM_DIAGRAM_VIRTUALLY_FRAME" val="{&quot;height&quot;:342,&quot;left&quot;:51.600078740157485,&quot;top&quot;:120.6,&quot;width&quot;:856.7999212598424}"/>
</p:tagLst>
</file>

<file path=ppt/tags/tag64.xml><?xml version="1.0" encoding="utf-8"?>
<p:tagLst xmlns:p="http://schemas.openxmlformats.org/presentationml/2006/main">
  <p:tag name="KSO_WM_DIAGRAM_VIRTUALLY_FRAME" val="{&quot;height&quot;:342,&quot;left&quot;:51.600078740157485,&quot;top&quot;:120.6,&quot;width&quot;:856.7999212598424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16488</Words>
  <Application>WPS Presentation</Application>
  <PresentationFormat>Widescreen</PresentationFormat>
  <Paragraphs>649</Paragraphs>
  <Slides>30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4" baseType="lpstr">
      <vt:lpstr>Arial</vt:lpstr>
      <vt:lpstr>SimSun</vt:lpstr>
      <vt:lpstr>Wingdings</vt:lpstr>
      <vt:lpstr>Arial</vt:lpstr>
      <vt:lpstr>Calibri</vt:lpstr>
      <vt:lpstr>Proxima Nova</vt:lpstr>
      <vt:lpstr>Segoe UI</vt:lpstr>
      <vt:lpstr>Proxima Nova</vt:lpstr>
      <vt:lpstr>Microsoft YaHei</vt:lpstr>
      <vt:lpstr>Arial Unicode MS</vt:lpstr>
      <vt:lpstr>Consolas</vt:lpstr>
      <vt:lpstr>Consolas</vt:lpstr>
      <vt:lpstr>Wingdings</vt:lpstr>
      <vt:lpstr>Office Theme</vt:lpstr>
      <vt:lpstr>PowerPoint 演示文稿</vt:lpstr>
      <vt:lpstr>PowerPoint 演示文稿</vt:lpstr>
      <vt:lpstr>Abstract</vt:lpstr>
      <vt:lpstr>Outline</vt:lpstr>
      <vt:lpstr>Introduction	</vt:lpstr>
      <vt:lpstr>Problem Statement	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Kishan Patel</cp:lastModifiedBy>
  <cp:revision>104</cp:revision>
  <dcterms:created xsi:type="dcterms:W3CDTF">2023-12-05T07:58:00Z</dcterms:created>
  <dcterms:modified xsi:type="dcterms:W3CDTF">2026-03-07T05:50:48Z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2024-01-10T05:57:01Z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bdeac77a-6f2d-4eed-8d0b-c87a56de673f</vt:lpwstr>
  </property>
  <property fmtid="{D5CDD505-2E9C-101B-9397-08002B2CF9AE}" pid="7" name="MSIP_Label_defa4170-0d19-0005-0004-bc88714345d2_ActionId">
    <vt:lpwstr>2a20089b-7995-43de-aaf1-a4eb65220026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42791EEE18CD4490B0341479098C9571_13</vt:lpwstr>
  </property>
  <property fmtid="{D5CDD505-2E9C-101B-9397-08002B2CF9AE}" pid="10" name="KSOProductBuildVer">
    <vt:lpwstr>1033-12.2.0.23197</vt:lpwstr>
  </property>
</Properties>
</file>